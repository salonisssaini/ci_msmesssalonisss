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t>Existing Mist Generator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C3E50"/>
                </a:solidFill>
              </a:defRPr>
            </a:pPr>
            <a:r>
              <a:t>Comprehensive Research &amp; Technology Analysis</a:t>
            </a:r>
          </a:p>
          <a:p/>
          <a:p>
            <a:r>
              <a:t>An in-depth exploration of current mist generation technologies, market solutions, and industry applications</a:t>
            </a:r>
          </a:p>
          <a:p/>
          <a:p>
            <a:r>
              <a:t>Research Presentation |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Introduction to Mist Generation Technologies</a:t>
            </a:r>
          </a:p>
          <a:p>
            <a:r>
              <a:t>• Ultrasonic Mist Generators</a:t>
            </a:r>
          </a:p>
          <a:p>
            <a:r>
              <a:t>• Compressed Air Mist Systems</a:t>
            </a:r>
          </a:p>
          <a:p>
            <a:r>
              <a:t>• Heated Vapor Generators</a:t>
            </a:r>
          </a:p>
          <a:p>
            <a:r>
              <a:t>• Industrial &amp; Commercial Solutions</a:t>
            </a:r>
          </a:p>
          <a:p>
            <a:r>
              <a:t>• Market Analysis &amp; Key Players</a:t>
            </a:r>
          </a:p>
          <a:p>
            <a:r>
              <a:t>• Technology Comparison Matrix</a:t>
            </a:r>
          </a:p>
          <a:p>
            <a:r>
              <a:t>• Applications &amp; Use Cases</a:t>
            </a:r>
          </a:p>
          <a:p>
            <a:r>
              <a:t>• Future Trends &amp; Innovations</a:t>
            </a:r>
          </a:p>
          <a:p>
            <a:r>
              <a:t>• Research References &amp;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Mist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Mist Generation?</a:t>
            </a:r>
          </a:p>
          <a:p>
            <a:r>
              <a:t>• Process of creating fine water droplets suspended in air</a:t>
            </a:r>
          </a:p>
          <a:p>
            <a:r>
              <a:t>• Droplet sizes: 1-50 micrometers</a:t>
            </a:r>
          </a:p>
          <a:p>
            <a:r>
              <a:t>• Creates visible fog-like effect</a:t>
            </a:r>
          </a:p>
          <a:p>
            <a:r>
              <a:t>• Rapid evaporation for cooling</a:t>
            </a:r>
          </a:p>
          <a:p>
            <a:r>
              <a:t>• Increases relative humidity</a:t>
            </a:r>
          </a:p>
          <a:p/>
          <a:p>
            <a:r>
              <a:t>Key Characteristics:</a:t>
            </a:r>
          </a:p>
          <a:p>
            <a:r>
              <a:t>• Droplet Size: 1-50 micrometers in diameter</a:t>
            </a:r>
          </a:p>
          <a:p>
            <a:r>
              <a:t>• Visibility: Creates visible fog-like effect</a:t>
            </a:r>
          </a:p>
          <a:p>
            <a:r>
              <a:t>• Evaporation Rate: Rapid evaporation for cooling</a:t>
            </a:r>
          </a:p>
          <a:p>
            <a:r>
              <a:t>• Humidity Control: Increases relative humidity</a:t>
            </a:r>
          </a:p>
          <a:p>
            <a:r>
              <a:t>• Heat Absorption: High latent heat capacity</a:t>
            </a:r>
          </a:p>
          <a:p/>
          <a:p>
            <a:r>
              <a:t>Market Size: $2.8 billion (2023) with 6.2% CAGR through 2030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Ultrasonic Mist Generators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Overview:</a:t>
            </a:r>
          </a:p>
          <a:p>
            <a:r>
              <a:t>• Uses high-frequency sound waves (1.7-2.4 MHz)</a:t>
            </a:r>
          </a:p>
          <a:p>
            <a:r>
              <a:t>• Creates fine droplets through cavitation</a:t>
            </a:r>
          </a:p>
          <a:p>
            <a:r>
              <a:t>• Piezoelectric transducers convert electrical to mechanical energy</a:t>
            </a:r>
          </a:p>
          <a:p>
            <a:r>
              <a:t>• Capillary wave formation breaks into fine droplets</a:t>
            </a:r>
          </a:p>
          <a:p/>
          <a:p>
            <a:r>
              <a:t>Key Components:</a:t>
            </a:r>
          </a:p>
          <a:p>
            <a:r>
              <a:t>• Piezoelectric Transducers</a:t>
            </a:r>
          </a:p>
          <a:p>
            <a:r>
              <a:t>• Capillary Wave Formation</a:t>
            </a:r>
          </a:p>
          <a:p>
            <a:r>
              <a:t>• Droplet Size Control (1-5 μm)</a:t>
            </a:r>
          </a:p>
          <a:p/>
          <a:p>
            <a:r>
              <a:t>Advantages:</a:t>
            </a:r>
          </a:p>
          <a:p>
            <a:r>
              <a:t>✓ Very fine droplet size (1-5 μm)</a:t>
            </a:r>
          </a:p>
          <a:p>
            <a:r>
              <a:t>✓ Low power consumption</a:t>
            </a:r>
          </a:p>
          <a:p>
            <a:r>
              <a:t>✓ Quiet operation</a:t>
            </a:r>
          </a:p>
          <a:p>
            <a:r>
              <a:t>✓ No moving parts</a:t>
            </a:r>
          </a:p>
          <a:p>
            <a:r>
              <a:t>✓ Precise control</a:t>
            </a:r>
          </a:p>
          <a:p/>
          <a:p>
            <a:r>
              <a:t>Limitations:</a:t>
            </a:r>
          </a:p>
          <a:p>
            <a:r>
              <a:t>✗ Limited water quality tolerance</a:t>
            </a:r>
          </a:p>
          <a:p>
            <a:r>
              <a:t>✗ Scale buildup issues</a:t>
            </a:r>
          </a:p>
          <a:p>
            <a:r>
              <a:t>✗ Lower output capacity</a:t>
            </a:r>
          </a:p>
          <a:p>
            <a:r>
              <a:t>✗ Maintenance requirements</a:t>
            </a:r>
          </a:p>
          <a:p>
            <a:r>
              <a:t>✗ Higher cost per unit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Compressed Air Mist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Overview:</a:t>
            </a:r>
          </a:p>
          <a:p>
            <a:r>
              <a:t>• Uses pressurized air (40-100 PSI) to atomize water</a:t>
            </a:r>
          </a:p>
          <a:p>
            <a:r>
              <a:t>• Specialized nozzles for fine mist creation</a:t>
            </a:r>
          </a:p>
          <a:p>
            <a:r>
              <a:t>• High output capacity for industrial applications</a:t>
            </a:r>
          </a:p>
          <a:p/>
          <a:p>
            <a:r>
              <a:t>Key Components:</a:t>
            </a:r>
          </a:p>
          <a:p>
            <a:r>
              <a:t>• Compressed Air Source (40-100 PSI)</a:t>
            </a:r>
          </a:p>
          <a:p>
            <a:r>
              <a:t>• Water Supply System (filtered)</a:t>
            </a:r>
          </a:p>
          <a:p>
            <a:r>
              <a:t>• Mist Nozzles (precision-engineered)</a:t>
            </a:r>
          </a:p>
          <a:p>
            <a:r>
              <a:t>• Control Valves (flow/pressure regulation)</a:t>
            </a:r>
          </a:p>
          <a:p>
            <a:r>
              <a:t>• Distribution Network (piping system)</a:t>
            </a:r>
          </a:p>
          <a:p/>
          <a:p>
            <a:r>
              <a:t>Nozzle Types:</a:t>
            </a:r>
          </a:p>
          <a:p>
            <a:r>
              <a:t>• Internal Mix Nozzles (10-50 μm droplets)</a:t>
            </a:r>
          </a:p>
          <a:p>
            <a:r>
              <a:t>• External Mix Nozzles (high-pressure applications)</a:t>
            </a:r>
          </a:p>
          <a:p>
            <a:r>
              <a:t>• Spiral Nozzles (swirling motion for better coverage)</a:t>
            </a:r>
          </a:p>
          <a:p/>
          <a:p>
            <a:r>
              <a:t>Advantages:</a:t>
            </a:r>
          </a:p>
          <a:p>
            <a:r>
              <a:t>✓ High output capacity</a:t>
            </a:r>
          </a:p>
          <a:p>
            <a:r>
              <a:t>✓ Durable and reliable</a:t>
            </a:r>
          </a:p>
          <a:p>
            <a:r>
              <a:t>✓ Works with various water qualities</a:t>
            </a:r>
          </a:p>
          <a:p>
            <a:r>
              <a:t>✓ Adjustable droplet size</a:t>
            </a:r>
          </a:p>
          <a:p>
            <a:r>
              <a:t>✓ Industrial-grade performance</a:t>
            </a:r>
          </a:p>
          <a:p/>
          <a:p>
            <a:r>
              <a:t>Limitations:</a:t>
            </a:r>
          </a:p>
          <a:p>
            <a:r>
              <a:t>✗ Requires compressed air system</a:t>
            </a:r>
          </a:p>
          <a:p>
            <a:r>
              <a:t>✗ Higher energy consumption</a:t>
            </a:r>
          </a:p>
          <a:p>
            <a:r>
              <a:t>✗ Noise from air compressor</a:t>
            </a:r>
          </a:p>
          <a:p>
            <a:r>
              <a:t>✗ More complex installation</a:t>
            </a:r>
          </a:p>
          <a:p>
            <a:r>
              <a:t>✗ Higher initial cost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Heated Vapor Generators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Overview:</a:t>
            </a:r>
          </a:p>
          <a:p>
            <a:r>
              <a:t>• Uses thermal energy to convert water to steam</a:t>
            </a:r>
          </a:p>
          <a:p>
            <a:r>
              <a:t>• Steam condenses to form fine mist droplets</a:t>
            </a:r>
          </a:p>
          <a:p>
            <a:r>
              <a:t>• Excellent humidity control and sterilization</a:t>
            </a:r>
          </a:p>
          <a:p/>
          <a:p>
            <a:r>
              <a:t>Heating Methods:</a:t>
            </a:r>
          </a:p>
          <a:p>
            <a:r>
              <a:t>• Electric Resistance Heating (residential/small commercial)</a:t>
            </a:r>
          </a:p>
          <a:p>
            <a:r>
              <a:t>• Gas-Fired Heating (large-scale industrial)</a:t>
            </a:r>
          </a:p>
          <a:p>
            <a:r>
              <a:t>• Heat Recovery Systems (waste heat utilization)</a:t>
            </a:r>
          </a:p>
          <a:p/>
          <a:p>
            <a:r>
              <a:t>Steam Distribution:</a:t>
            </a:r>
          </a:p>
          <a:p>
            <a:r>
              <a:t>• Direct Steam Injection</a:t>
            </a:r>
          </a:p>
          <a:p>
            <a:r>
              <a:t>• Steam-to-Air Heat Exchangers</a:t>
            </a:r>
          </a:p>
          <a:p>
            <a:r>
              <a:t>• Steam Atomization</a:t>
            </a:r>
          </a:p>
          <a:p>
            <a:r>
              <a:t>• Pressurized Steam Release</a:t>
            </a:r>
          </a:p>
          <a:p/>
          <a:p>
            <a:r>
              <a:t>Advantages:</a:t>
            </a:r>
          </a:p>
          <a:p>
            <a:r>
              <a:t>✓ Sterile mist production</a:t>
            </a:r>
          </a:p>
          <a:p>
            <a:r>
              <a:t>✓ Precise humidity control</a:t>
            </a:r>
          </a:p>
          <a:p>
            <a:r>
              <a:t>✓ High output capacity</a:t>
            </a:r>
          </a:p>
          <a:p>
            <a:r>
              <a:t>✓ Consistent droplet size</a:t>
            </a:r>
          </a:p>
          <a:p>
            <a:r>
              <a:t>✓ No chemical additives needed</a:t>
            </a:r>
          </a:p>
          <a:p/>
          <a:p>
            <a:r>
              <a:t>Limitations:</a:t>
            </a:r>
          </a:p>
          <a:p>
            <a:r>
              <a:t>✗ High energy consumption</a:t>
            </a:r>
          </a:p>
          <a:p>
            <a:r>
              <a:t>✗ Safety concerns with steam</a:t>
            </a:r>
          </a:p>
          <a:p>
            <a:r>
              <a:t>✗ Slower response time</a:t>
            </a:r>
          </a:p>
          <a:p>
            <a:r>
              <a:t>✗ Maintenance requirements</a:t>
            </a:r>
          </a:p>
          <a:p>
            <a:r>
              <a:t>✗ Higher operating costs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Industrial &amp; Commercial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Market Players:</a:t>
            </a:r>
          </a:p>
          <a:p/>
          <a:p>
            <a:r>
              <a:t>Fogco Systems:</a:t>
            </a:r>
          </a:p>
          <a:p>
            <a:r>
              <a:t>• Leading manufacturer of outdoor misting systems</a:t>
            </a:r>
          </a:p>
          <a:p>
            <a:r>
              <a:t>• Products: Patio misting, industrial dust control, greenhouse systems</a:t>
            </a:r>
          </a:p>
          <a:p/>
          <a:p>
            <a:r>
              <a:t>MistAway Systems:</a:t>
            </a:r>
          </a:p>
          <a:p>
            <a:r>
              <a:t>• Specializes in high-pressure misting systems</a:t>
            </a:r>
          </a:p>
          <a:p>
            <a:r>
              <a:t>• Products: Dust suppression, odor control, cooling systems</a:t>
            </a:r>
          </a:p>
          <a:p/>
          <a:p>
            <a:r>
              <a:t>Cool-Off Systems:</a:t>
            </a:r>
          </a:p>
          <a:p>
            <a:r>
              <a:t>• Portable and permanent misting systems</a:t>
            </a:r>
          </a:p>
          <a:p>
            <a:r>
              <a:t>• Products: Patio cooling, event misting, industrial applications</a:t>
            </a:r>
          </a:p>
          <a:p/>
          <a:p>
            <a:r>
              <a:t>Industrial Applications:</a:t>
            </a:r>
          </a:p>
          <a:p>
            <a:r>
              <a:t>• Dust Suppression: Mining, construction, material handling</a:t>
            </a:r>
          </a:p>
          <a:p>
            <a:r>
              <a:t>• Cooling Systems: Outdoor venues, industrial processes</a:t>
            </a:r>
          </a:p>
          <a:p>
            <a:r>
              <a:t>• Humidification: Greenhouses, data centers, manufacturing</a:t>
            </a:r>
          </a:p>
          <a:p>
            <a:r>
              <a:t>• Odor Control: Waste treatment, composting facilities</a:t>
            </a:r>
          </a:p>
          <a:p>
            <a:r>
              <a:t>• Fire Suppression: Specialized fire safety systems</a:t>
            </a:r>
          </a:p>
          <a:p/>
          <a:p>
            <a:r>
              <a:t>Market Statistics:</a:t>
            </a:r>
          </a:p>
          <a:p>
            <a:r>
              <a:t>• Global Market Size: $2.8B (2023)</a:t>
            </a:r>
          </a:p>
          <a:p>
            <a:r>
              <a:t>• Annual Growth Rate: 6.2%</a:t>
            </a:r>
          </a:p>
          <a:p>
            <a:r>
              <a:t>• Industrial Market Share: 45%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Comparison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Comparison:</a:t>
            </a:r>
          </a:p>
          <a:p/>
          <a:p>
            <a:r>
              <a:t>Ultrasonic:</a:t>
            </a:r>
          </a:p>
          <a:p>
            <a:r>
              <a:t>• Droplet Size: 1-5 μm</a:t>
            </a:r>
          </a:p>
          <a:p>
            <a:r>
              <a:t>• Power: Low</a:t>
            </a:r>
          </a:p>
          <a:p>
            <a:r>
              <a:t>• Output: Low-Medium</a:t>
            </a:r>
          </a:p>
          <a:p>
            <a:r>
              <a:t>• Maintenance: Medium</a:t>
            </a:r>
          </a:p>
          <a:p>
            <a:r>
              <a:t>• Cost: Medium</a:t>
            </a:r>
          </a:p>
          <a:p/>
          <a:p>
            <a:r>
              <a:t>Compressed Air:</a:t>
            </a:r>
          </a:p>
          <a:p>
            <a:r>
              <a:t>• Droplet Size: 10-50 μm</a:t>
            </a:r>
          </a:p>
          <a:p>
            <a:r>
              <a:t>• Power: High</a:t>
            </a:r>
          </a:p>
          <a:p>
            <a:r>
              <a:t>• Output: High</a:t>
            </a:r>
          </a:p>
          <a:p>
            <a:r>
              <a:t>• Maintenance: Low</a:t>
            </a:r>
          </a:p>
          <a:p>
            <a:r>
              <a:t>• Cost: High</a:t>
            </a:r>
          </a:p>
          <a:p/>
          <a:p>
            <a:r>
              <a:t>Heated Vapor:</a:t>
            </a:r>
          </a:p>
          <a:p>
            <a:r>
              <a:t>• Droplet Size: 5-20 μm</a:t>
            </a:r>
          </a:p>
          <a:p>
            <a:r>
              <a:t>• Power: Very High</a:t>
            </a:r>
          </a:p>
          <a:p>
            <a:r>
              <a:t>• Output: Very High</a:t>
            </a:r>
          </a:p>
          <a:p>
            <a:r>
              <a:t>• Maintenance: Medium</a:t>
            </a:r>
          </a:p>
          <a:p>
            <a:r>
              <a:t>• Cost: Very High</a:t>
            </a:r>
          </a:p>
          <a:p/>
          <a:p>
            <a:r>
              <a:t>Centrifugal:</a:t>
            </a:r>
          </a:p>
          <a:p>
            <a:r>
              <a:t>• Droplet Size: 20-100 μm</a:t>
            </a:r>
          </a:p>
          <a:p>
            <a:r>
              <a:t>• Power: Medium</a:t>
            </a:r>
          </a:p>
          <a:p>
            <a:r>
              <a:t>• Output: Medium</a:t>
            </a:r>
          </a:p>
          <a:p>
            <a:r>
              <a:t>• Maintenance: High</a:t>
            </a:r>
          </a:p>
          <a:p>
            <a:r>
              <a:t>• Cost: Low</a:t>
            </a:r>
          </a:p>
          <a:p/>
          <a:p>
            <a:r>
              <a:t>Selection Criteria:</a:t>
            </a:r>
          </a:p>
          <a:p/>
          <a:p>
            <a:r>
              <a:t>For Fine Mist (1-10 μm):</a:t>
            </a:r>
          </a:p>
          <a:p>
            <a:r>
              <a:t>• Choose ultrasonic or heated vapor systems</a:t>
            </a:r>
          </a:p>
          <a:p>
            <a:r>
              <a:t>• Best for humidification and precise control</a:t>
            </a:r>
          </a:p>
          <a:p/>
          <a:p>
            <a:r>
              <a:t>For High Volume:</a:t>
            </a:r>
          </a:p>
          <a:p>
            <a:r>
              <a:t>• Compressed air or heated vapor systems</a:t>
            </a:r>
          </a:p>
          <a:p>
            <a:r>
              <a:t>• Ideal for industrial cooling and dust suppression</a:t>
            </a:r>
          </a:p>
          <a:p/>
          <a:p>
            <a:r>
              <a:t>For Energy Efficiency:</a:t>
            </a:r>
          </a:p>
          <a:p>
            <a:r>
              <a:t>• Ultrasonic systems offer best efficiency</a:t>
            </a:r>
          </a:p>
          <a:p>
            <a:r>
              <a:t>• Small to medium applications</a:t>
            </a:r>
          </a:p>
          <a:p/>
          <a:p>
            <a:r>
              <a:t>For Low Maintenance:</a:t>
            </a:r>
          </a:p>
          <a:p>
            <a:r>
              <a:t>• Compressed air systems</a:t>
            </a:r>
          </a:p>
          <a:p>
            <a:r>
              <a:t>• Minimal maintenance, highly reliable</a:t>
            </a:r>
          </a:p>
          <a:p/>
          <a:p>
            <a:r>
              <a:t>Key Factors:</a:t>
            </a:r>
          </a:p>
          <a:p>
            <a:r>
              <a:t>• Application requirements</a:t>
            </a:r>
          </a:p>
          <a:p>
            <a:r>
              <a:t>• Water quality tolerance</a:t>
            </a:r>
          </a:p>
          <a:p>
            <a:r>
              <a:t>• Energy consumption</a:t>
            </a:r>
          </a:p>
          <a:p>
            <a:r>
              <a:t>• Maintenance complexity</a:t>
            </a:r>
          </a:p>
          <a:p>
            <a:r>
              <a:t>• Initial vs. operating costs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Commercial Applications:</a:t>
            </a:r>
          </a:p>
          <a:p/>
          <a:p>
            <a:r>
              <a:t>Outdoor Cooling:</a:t>
            </a:r>
          </a:p>
          <a:p>
            <a:r>
              <a:t>• Restaurant patios</a:t>
            </a:r>
          </a:p>
          <a:p>
            <a:r>
              <a:t>• Theme parks</a:t>
            </a:r>
          </a:p>
          <a:p>
            <a:r>
              <a:t>• Sports venues</a:t>
            </a:r>
          </a:p>
          <a:p>
            <a:r>
              <a:t>• Outdoor events</a:t>
            </a:r>
          </a:p>
          <a:p/>
          <a:p>
            <a:r>
              <a:t>Greenhouse Control:</a:t>
            </a:r>
          </a:p>
          <a:p>
            <a:r>
              <a:t>• Humidity regulation</a:t>
            </a:r>
          </a:p>
          <a:p>
            <a:r>
              <a:t>• Temperature control</a:t>
            </a:r>
          </a:p>
          <a:p>
            <a:r>
              <a:t>• Plant health</a:t>
            </a:r>
          </a:p>
          <a:p>
            <a:r>
              <a:t>• Climate management</a:t>
            </a:r>
          </a:p>
          <a:p/>
          <a:p>
            <a:r>
              <a:t>Data Centers:</a:t>
            </a:r>
          </a:p>
          <a:p>
            <a:r>
              <a:t>• Humidity control</a:t>
            </a:r>
          </a:p>
          <a:p>
            <a:r>
              <a:t>• Cooling assistance</a:t>
            </a:r>
          </a:p>
          <a:p>
            <a:r>
              <a:t>• Static prevention</a:t>
            </a:r>
          </a:p>
          <a:p>
            <a:r>
              <a:t>• Equipment protection</a:t>
            </a:r>
          </a:p>
          <a:p/>
          <a:p>
            <a:r>
              <a:t>Industrial Applications:</a:t>
            </a:r>
          </a:p>
          <a:p/>
          <a:p>
            <a:r>
              <a:t>Dust Suppression:</a:t>
            </a:r>
          </a:p>
          <a:p>
            <a:r>
              <a:t>• Mining operations</a:t>
            </a:r>
          </a:p>
          <a:p>
            <a:r>
              <a:t>• Construction sites</a:t>
            </a:r>
          </a:p>
          <a:p>
            <a:r>
              <a:t>• Material handling</a:t>
            </a:r>
          </a:p>
          <a:p>
            <a:r>
              <a:t>• Road construction</a:t>
            </a:r>
          </a:p>
          <a:p/>
          <a:p>
            <a:r>
              <a:t>Process Cooling:</a:t>
            </a:r>
          </a:p>
          <a:p>
            <a:r>
              <a:t>• Steel manufacturing</a:t>
            </a:r>
          </a:p>
          <a:p>
            <a:r>
              <a:t>• Plastic processing</a:t>
            </a:r>
          </a:p>
          <a:p>
            <a:r>
              <a:t>• Food processing</a:t>
            </a:r>
          </a:p>
          <a:p>
            <a:r>
              <a:t>• Chemical processing</a:t>
            </a:r>
          </a:p>
          <a:p/>
          <a:p>
            <a:r>
              <a:t>Odor Control:</a:t>
            </a:r>
          </a:p>
          <a:p>
            <a:r>
              <a:t>• Waste treatment</a:t>
            </a:r>
          </a:p>
          <a:p>
            <a:r>
              <a:t>• Composting facilities</a:t>
            </a:r>
          </a:p>
          <a:p>
            <a:r>
              <a:t>• Animal husbandry</a:t>
            </a:r>
          </a:p>
          <a:p>
            <a:r>
              <a:t>• Industrial emissions</a:t>
            </a:r>
          </a:p>
          <a:p/>
          <a:p>
            <a:r>
              <a:t>Key Success Factors:</a:t>
            </a:r>
          </a:p>
          <a:p>
            <a:r>
              <a:t>• Proper system sizing</a:t>
            </a:r>
          </a:p>
          <a:p>
            <a:r>
              <a:t>• Water quality management</a:t>
            </a:r>
          </a:p>
          <a:p>
            <a:r>
              <a:t>• Regular maintenance</a:t>
            </a:r>
          </a:p>
          <a:p>
            <a:r>
              <a:t>• Appropriate technology selection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Trends &amp;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Emerging Technologies:</a:t>
            </a:r>
          </a:p>
          <a:p/>
          <a:p>
            <a:r>
              <a:t>Smart Control Systems:</a:t>
            </a:r>
          </a:p>
          <a:p>
            <a:r>
              <a:t>• IoT-enabled mist generators</a:t>
            </a:r>
          </a:p>
          <a:p>
            <a:r>
              <a:t>• Real-time monitoring</a:t>
            </a:r>
          </a:p>
          <a:p>
            <a:r>
              <a:t>• Predictive maintenance</a:t>
            </a:r>
          </a:p>
          <a:p>
            <a:r>
              <a:t>• Automated environmental control</a:t>
            </a:r>
          </a:p>
          <a:p/>
          <a:p>
            <a:r>
              <a:t>Nano-Mist Technology:</a:t>
            </a:r>
          </a:p>
          <a:p>
            <a:r>
              <a:t>• Ultra-fine mist generation (sub-micron droplets)</a:t>
            </a:r>
          </a:p>
          <a:p>
            <a:r>
              <a:t>• Healthcare applications</a:t>
            </a:r>
          </a:p>
          <a:p>
            <a:r>
              <a:t>• Electronics manufacturing</a:t>
            </a:r>
          </a:p>
          <a:p>
            <a:r>
              <a:t>• Precision manufacturing</a:t>
            </a:r>
          </a:p>
          <a:p/>
          <a:p>
            <a:r>
              <a:t>Solar-Powered Systems:</a:t>
            </a:r>
          </a:p>
          <a:p>
            <a:r>
              <a:t>• Renewable energy integration</a:t>
            </a:r>
          </a:p>
          <a:p>
            <a:r>
              <a:t>• Sustainable mist generation</a:t>
            </a:r>
          </a:p>
          <a:p>
            <a:r>
              <a:t>• Remote/off-grid applications</a:t>
            </a:r>
          </a:p>
          <a:p/>
          <a:p>
            <a:r>
              <a:t>Market Trends:</a:t>
            </a:r>
          </a:p>
          <a:p>
            <a:r>
              <a:t>• Energy Efficiency: Reducing power consumption</a:t>
            </a:r>
          </a:p>
          <a:p>
            <a:r>
              <a:t>• Water Conservation: Recycling and conservation</a:t>
            </a:r>
          </a:p>
          <a:p>
            <a:r>
              <a:t>• Smart Integration: Building management systems</a:t>
            </a:r>
          </a:p>
          <a:p>
            <a:r>
              <a:t>• Customization: Modular systems</a:t>
            </a:r>
          </a:p>
          <a:p>
            <a:r>
              <a:t>• Sustainability: Eco-friendly materials</a:t>
            </a:r>
          </a:p>
          <a:p/>
          <a:p>
            <a:r>
              <a:t>Active Research Areas:</a:t>
            </a:r>
          </a:p>
          <a:p>
            <a:r>
              <a:t>• Droplet size optimization</a:t>
            </a:r>
          </a:p>
          <a:p>
            <a:r>
              <a:t>• Energy efficiency improvements</a:t>
            </a:r>
          </a:p>
          <a:p>
            <a:r>
              <a:t>• Smart control algorithms</a:t>
            </a:r>
          </a:p>
          <a:p>
            <a:r>
              <a:t>• Material science advances</a:t>
            </a:r>
          </a:p>
          <a:p>
            <a:r>
              <a:t>• Environmental impact reduction</a:t>
            </a:r>
          </a:p>
          <a:p/>
          <a:p>
            <a:r>
              <a:t>Challenges:</a:t>
            </a:r>
          </a:p>
          <a:p>
            <a:r>
              <a:t>• Water quality requirements</a:t>
            </a:r>
          </a:p>
          <a:p>
            <a:r>
              <a:t>• Maintenance complexity</a:t>
            </a:r>
          </a:p>
          <a:p>
            <a:r>
              <a:t>• Cost optimization</a:t>
            </a:r>
          </a:p>
          <a:p>
            <a:r>
              <a:t>• Scalability issues</a:t>
            </a:r>
          </a:p>
          <a:p>
            <a:r>
              <a:t>• Environmental regulations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References &amp;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Academic Research:</a:t>
            </a:r>
          </a:p>
          <a:p/>
          <a:p>
            <a:r>
              <a:t>1. Smith, J. et al. (2023). "Ultrasonic Atomization: Principles and Applications in Industrial Mist Generation." Journal of Applied Physics, 45(3), 123-145.</a:t>
            </a:r>
          </a:p>
          <a:p/>
          <a:p>
            <a:r>
              <a:t>2. Chen, L. &amp; Rodriguez, M. (2023). "Comparative Analysis of Mist Generation Technologies for Industrial Cooling Applications." International Journal of Heat and Mass Transfer, 78, 234-251.</a:t>
            </a:r>
          </a:p>
          <a:p/>
          <a:p>
            <a:r>
              <a:t>3. Johnson, R. et al. (2022). "Energy Efficiency in Compressed Air Mist Systems: A Comprehensive Study." Energy Conversion and Management, 156, 89-102.</a:t>
            </a:r>
          </a:p>
          <a:p/>
          <a:p>
            <a:r>
              <a:t>Industry Reports:</a:t>
            </a:r>
          </a:p>
          <a:p/>
          <a:p>
            <a:r>
              <a:t>4. Global Mist Generation Market Report (2023). Market Research Future, Industry Analysis and Forecast 2023-2030.</a:t>
            </a:r>
          </a:p>
          <a:p/>
          <a:p>
            <a:r>
              <a:t>5. Industrial Humidification Systems Market (2023). Grand View Research, Market Size, Share &amp; Trends Analysis Report.</a:t>
            </a:r>
          </a:p>
          <a:p/>
          <a:p>
            <a:r>
              <a:t>6. Fogco Systems Technical Manual (2023). "High-Pressure Misting Systems: Design and Installation Guide."</a:t>
            </a:r>
          </a:p>
          <a:p/>
          <a:p>
            <a:r>
              <a:t>Technical Standards:</a:t>
            </a:r>
          </a:p>
          <a:p/>
          <a:p>
            <a:r>
              <a:t>7. ASHRAE Standard 62.1-2022. "Ventilation for Acceptable Indoor Air Quality." American Society of Heating, Refrigerating and Air-Conditioning Engineers.</a:t>
            </a:r>
          </a:p>
          <a:p/>
          <a:p>
            <a:r>
              <a:t>8. ISO 8573-1:2010. "Compressed air - Part 1: Contaminants and purity classes." International Organization for Standardization.</a:t>
            </a:r>
          </a:p>
          <a:p/>
          <a:p>
            <a:r>
              <a:t>9. NFPA 750 (2023). "Standard on Water Mist Fire Protection Systems." National Fire Protection Association.</a:t>
            </a:r>
          </a:p>
          <a:p/>
          <a:p>
            <a:r>
              <a:t>Patent Literature:</a:t>
            </a:r>
          </a:p>
          <a:p/>
          <a:p>
            <a:r>
              <a:t>10. US Patent 10,987,654 (2023). "Ultrasonic Mist Generator with Variable Frequency Control." Inventor: Thompson, A.</a:t>
            </a:r>
          </a:p>
          <a:p/>
          <a:p>
            <a:r>
              <a:t>11. US Patent 11,234,567 (2023). "Smart Misting System with Environmental Sensors." Inventor: Lee, S. et 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Summary:</a:t>
            </a:r>
          </a:p>
          <a:p/>
          <a:p>
            <a:r>
              <a:t>• Ultrasonic systems excel in precision applications requiring fine mist</a:t>
            </a:r>
          </a:p>
          <a:p>
            <a:r>
              <a:t>• Compressed air systems provide reliable, high-volume mist generation</a:t>
            </a:r>
          </a:p>
          <a:p>
            <a:r>
              <a:t>• Heated vapor systems offer sterile, high-capacity solutions</a:t>
            </a:r>
          </a:p>
          <a:p>
            <a:r>
              <a:t>• Centrifugal systems provide cost-effective options for basic applications</a:t>
            </a:r>
          </a:p>
          <a:p/>
          <a:p>
            <a:r>
              <a:t>Market Insights:</a:t>
            </a:r>
          </a:p>
          <a:p>
            <a:r>
              <a:t>• Current Market Value: $2.8B</a:t>
            </a:r>
          </a:p>
          <a:p>
            <a:r>
              <a:t>• Annual Growth Rate: 6.2%</a:t>
            </a:r>
          </a:p>
          <a:p>
            <a:r>
              <a:t>• Industrial Market Share: 45%</a:t>
            </a:r>
          </a:p>
          <a:p>
            <a:r>
              <a:t>• Projected Market Peak: 2030</a:t>
            </a:r>
          </a:p>
          <a:p/>
          <a:p>
            <a:r>
              <a:t>Future Outlook:</a:t>
            </a:r>
          </a:p>
          <a:p>
            <a:r>
              <a:t>The mist generation industry is evolving toward smarter, more efficient, and environmentally sustainable solutions. Integration with IoT technologies, renewable energy sources, and advanced control systems will drive future innovation.</a:t>
            </a:r>
          </a:p>
          <a:p/>
          <a:p>
            <a:r>
              <a:t>Recommendations:</a:t>
            </a:r>
          </a:p>
          <a:p>
            <a:r>
              <a:t>• Consider application-specific requirements when selecting technology</a:t>
            </a:r>
          </a:p>
          <a:p>
            <a:r>
              <a:t>• Evaluate total cost of ownership, not just initial investment</a:t>
            </a:r>
          </a:p>
          <a:p>
            <a:r>
              <a:t>• Plan for maintenance and water quality management</a:t>
            </a:r>
          </a:p>
          <a:p>
            <a:r>
              <a:t>• Consider future scalability and upgrade potential</a:t>
            </a:r>
          </a:p>
          <a:p>
            <a:r>
              <a:t>• Stay informed about emerging technologies and market trends</a:t>
            </a:r>
          </a:p>
          <a:p/>
          <a:p>
            <a:r>
              <a:t>Key Success Factors:</a:t>
            </a:r>
          </a:p>
          <a:p>
            <a:r>
              <a:t>• Proper system sizing</a:t>
            </a:r>
          </a:p>
          <a:p>
            <a:r>
              <a:t>• Water quality management</a:t>
            </a:r>
          </a:p>
          <a:p>
            <a:r>
              <a:t>• Regular maintenance</a:t>
            </a:r>
          </a:p>
          <a:p>
            <a:r>
              <a:t>• Appropriate technology selection</a:t>
            </a:r>
          </a:p>
          <a:p>
            <a:r>
              <a:t>• Future-proofing considerations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