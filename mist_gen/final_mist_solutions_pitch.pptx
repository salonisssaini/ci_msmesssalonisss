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DC35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0" y="1371600"/>
            <a:ext cx="2286000" cy="228600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0" y="2103120"/>
            <a:ext cx="2103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⚠️</a:t>
            </a:r>
            <a:br/>
            <a:r>
              <a:t>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C3545"/>
                </a:solidFill>
              </a:defRPr>
            </a:pPr>
            <a:r>
              <a:t>THE GLOBAL HEALTH CRISIS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2C3E50"/>
                </a:solidFill>
              </a:defRPr>
            </a:pPr>
            <a:r>
              <a:t>Air &amp; Water Borne Infections Threaten Global Health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2743200" cy="1645920"/>
          </a:xfrm>
          <a:prstGeom prst="roundRect">
            <a:avLst/>
          </a:prstGeom>
          <a:solidFill>
            <a:srgbClr val="ADD8E6"/>
          </a:solidFill>
          <a:ln w="381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6699"/>
                </a:solidFill>
              </a:defRPr>
            </a:pPr>
            <a:r>
              <a:t>3.2M</a:t>
            </a:r>
            <a:br/>
            <a:r>
              <a:t>DEATHS</a:t>
            </a:r>
            <a:br/>
            <a:r>
              <a:t>ANNUALLY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840480"/>
            <a:ext cx="2743200" cy="1645920"/>
          </a:xfrm>
          <a:prstGeom prst="roundRect">
            <a:avLst/>
          </a:prstGeom>
          <a:solidFill>
            <a:srgbClr val="90EE90"/>
          </a:solidFill>
          <a:ln w="38100"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411480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994C"/>
                </a:solidFill>
              </a:defRPr>
            </a:pPr>
            <a:r>
              <a:t>$1.2T</a:t>
            </a:r>
            <a:br/>
            <a:r>
              <a:t>HEALTHCARE</a:t>
            </a:r>
            <a:br/>
            <a:r>
              <a:t>COSTS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840480"/>
            <a:ext cx="2743200" cy="1645920"/>
          </a:xfrm>
          <a:prstGeom prst="roundRect">
            <a:avLst/>
          </a:prstGeom>
          <a:solidFill>
            <a:srgbClr val="FFDAB9"/>
          </a:solidFill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11480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6600"/>
                </a:solidFill>
              </a:defRPr>
            </a:pPr>
            <a:r>
              <a:t>90%</a:t>
            </a:r>
            <a:br/>
            <a:r>
              <a:t>GLOBAL</a:t>
            </a:r>
            <a:br/>
            <a:r>
              <a:t>POPULATION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3840480"/>
            <a:ext cx="2286000" cy="1645920"/>
          </a:xfrm>
          <a:prstGeom prst="roundRect">
            <a:avLst/>
          </a:prstGeom>
          <a:solidFill>
            <a:srgbClr val="FFB6C1"/>
          </a:solidFill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4114800"/>
            <a:ext cx="2103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DC3545"/>
                </a:solidFill>
              </a:defRPr>
            </a:pPr>
            <a:r>
              <a:t>15-20%</a:t>
            </a:r>
            <a:br/>
            <a:r>
              <a:t>LIVESTOCK</a:t>
            </a:r>
            <a:br/>
            <a:r>
              <a:t>MORTALITY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6699"/>
                </a:solidFill>
              </a:defRPr>
            </a:pPr>
            <a:r>
              <a:t>IdeaOne Hackathon 2024 | Healthcare Innovation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099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06699"/>
                </a:solidFill>
              </a:defRPr>
            </a:pPr>
            <a:r>
              <a:t>OUR REVOLUTIONARY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2C3E50"/>
                </a:solidFill>
              </a:defRPr>
            </a:pPr>
            <a:r>
              <a:t>Advanced Mist Technology for Air &amp; Water Disinfection</a:t>
            </a:r>
          </a:p>
        </p:txBody>
      </p:sp>
      <p:sp>
        <p:nvSpPr>
          <p:cNvPr id="5" name="Oval 4"/>
          <p:cNvSpPr/>
          <p:nvPr/>
        </p:nvSpPr>
        <p:spPr>
          <a:xfrm>
            <a:off x="5029200" y="2926080"/>
            <a:ext cx="2286000" cy="2286000"/>
          </a:xfrm>
          <a:prstGeom prst="ellipse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0" y="3657600"/>
            <a:ext cx="2103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MIST</a:t>
            </a:r>
            <a:br/>
            <a:r>
              <a:t>TECH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5486400" cy="1097280"/>
          </a:xfrm>
          <a:prstGeom prst="roundRect">
            <a:avLst/>
          </a:prstGeom>
          <a:solidFill>
            <a:srgbClr val="ADD8E6"/>
          </a:solidFill>
          <a:ln w="381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6699"/>
                </a:solidFill>
              </a:defRPr>
            </a:pPr>
            <a:r>
              <a:t>🔬 99.99% Pathogen Elimination | ⚡ IoT Smart Control | 🌍 Dual Air &amp; Water Applications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5486400"/>
            <a:ext cx="5486400" cy="1097280"/>
          </a:xfrm>
          <a:prstGeom prst="roundRect">
            <a:avLst/>
          </a:prstGeom>
          <a:solidFill>
            <a:srgbClr val="90EE90"/>
          </a:solidFill>
          <a:ln w="38100"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566928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994C"/>
                </a:solidFill>
              </a:defRPr>
            </a:pPr>
            <a:r>
              <a:t>💰 60% Cost Reduction | 📈 85% Infection Decrease | 🏥 Zero Health Effects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06699"/>
                </a:solidFill>
              </a:defRPr>
            </a:pPr>
            <a:r>
              <a:t>BREAKTHROUGH TECHNOLOGY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5486400" cy="3474720"/>
          </a:xfrm>
          <a:prstGeom prst="roundRect">
            <a:avLst/>
          </a:prstGeom>
          <a:solidFill>
            <a:srgbClr val="ADD8E6"/>
          </a:solidFill>
          <a:ln w="508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6699"/>
                </a:solidFill>
              </a:defRPr>
            </a:pPr>
            <a:r>
              <a:t>🌬️ AIR DISINFECTION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53035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Droplet Size: 1-5 micrometers</a:t>
            </a:r>
            <a:br/>
            <a:r>
              <a:t>• Coverage: 100-1000 m² per unit</a:t>
            </a:r>
            <a:br/>
            <a:r>
              <a:t>• Flow Rate: 50-500 L/min</a:t>
            </a:r>
            <a:br/>
            <a:r>
              <a:t>• Power: 50-200W per unit</a:t>
            </a:r>
            <a:br/>
            <a:r>
              <a:t>• Agents: Hypochlorous acid, H₂O₂</a:t>
            </a:r>
            <a:br/>
            <a:br/>
            <a:r>
              <a:t>Mechanism:</a:t>
            </a:r>
            <a:br/>
            <a:r>
              <a:t>✓ Mist captures airborne pathogens</a:t>
            </a:r>
            <a:br/>
            <a:r>
              <a:t>✓ Antimicrobial agents neutralize threats</a:t>
            </a:r>
            <a:br/>
            <a:r>
              <a:t>✓ Continuous air circulation</a:t>
            </a:r>
            <a:br/>
            <a:r>
              <a:t>✓ Real-time quality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011680"/>
            <a:ext cx="5486400" cy="3474720"/>
          </a:xfrm>
          <a:prstGeom prst="roundRect">
            <a:avLst/>
          </a:prstGeom>
          <a:solidFill>
            <a:srgbClr val="90EE90"/>
          </a:solidFill>
          <a:ln w="50800"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219456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994C"/>
                </a:solidFill>
              </a:defRPr>
            </a:pPr>
            <a:r>
              <a:t>💧 WATER DISINFECTION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834640"/>
            <a:ext cx="53035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Treatment Rate: 100-1000 L/hour</a:t>
            </a:r>
            <a:br/>
            <a:r>
              <a:t>• Efficiency: 99.99% pathogen elimination</a:t>
            </a:r>
            <a:br/>
            <a:r>
              <a:t>• Residual: 0.1-0.5 ppm safe levels</a:t>
            </a:r>
            <a:br/>
            <a:r>
              <a:t>• Power: 100-500W</a:t>
            </a:r>
            <a:br/>
            <a:r>
              <a:t>• Maintenance: 6-month intervals</a:t>
            </a:r>
            <a:br/>
            <a:br/>
            <a:r>
              <a:t>Process:</a:t>
            </a:r>
            <a:br/>
            <a:r>
              <a:t>✓ Pre-filtration removes particles</a:t>
            </a:r>
            <a:br/>
            <a:r>
              <a:t>✓ Ultrasonic mist generation</a:t>
            </a:r>
            <a:br/>
            <a:r>
              <a:t>✓ UV-C irradiation during formation</a:t>
            </a:r>
            <a:br/>
            <a:r>
              <a:t>✓ Antimicrobial agent injection</a:t>
            </a:r>
            <a:br/>
            <a:r>
              <a:t>✓ Post-treatment filtration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669280"/>
            <a:ext cx="10360152" cy="914400"/>
          </a:xfrm>
          <a:prstGeom prst="roundRect">
            <a:avLst/>
          </a:prstGeom>
          <a:solidFill>
            <a:srgbClr val="FFF8DC"/>
          </a:solidFill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1772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6600"/>
                </a:solidFill>
              </a:defRPr>
            </a:pPr>
            <a:r>
              <a:t>🚀 INNOVATION: Smart IoT Control | Variable Frequency Transducers | Zero Ozone Production | Seamless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8A7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06699"/>
                </a:solidFill>
              </a:defRPr>
            </a:pPr>
            <a:r>
              <a:t>MARKET IMPACT &amp;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60152" cy="1280160"/>
          </a:xfrm>
          <a:prstGeom prst="roundRect">
            <a:avLst/>
          </a:prstGeom>
          <a:solidFill>
            <a:srgbClr val="FFDAB9"/>
          </a:solidFill>
          <a:ln w="635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1772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600"/>
                </a:solidFill>
              </a:defRPr>
            </a:pPr>
            <a:r>
              <a:t>💰 TOTAL ADDRESSABLE MARKET: $32.4 BILLION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5486400" cy="2560320"/>
          </a:xfrm>
          <a:prstGeom prst="roundRect">
            <a:avLst/>
          </a:prstGeom>
          <a:solidFill>
            <a:srgbClr val="ADD8E6"/>
          </a:solidFill>
          <a:ln w="381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6699"/>
                </a:solidFill>
              </a:defRPr>
            </a:pPr>
            <a:r>
              <a:t>🏥 HEALTHCARE SECTOR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5303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Hospitals &amp; clinics (2.5M facilities)</a:t>
            </a:r>
            <a:br/>
            <a:r>
              <a:t>• Operating rooms &amp; ICUs</a:t>
            </a:r>
            <a:br/>
            <a:r>
              <a:t>• Emergency departments</a:t>
            </a:r>
            <a:br/>
            <a:r>
              <a:t>• Home healthcare</a:t>
            </a:r>
            <a:br/>
            <a:r>
              <a:t>• 85% reduction in infections</a:t>
            </a:r>
            <a:br/>
            <a:r>
              <a:t>• 70% decrease in illness rates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474720"/>
            <a:ext cx="5486400" cy="2560320"/>
          </a:xfrm>
          <a:prstGeom prst="roundRect">
            <a:avLst/>
          </a:prstGeom>
          <a:solidFill>
            <a:srgbClr val="90EE90"/>
          </a:solidFill>
          <a:ln w="38100"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3657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994C"/>
                </a:solidFill>
              </a:defRPr>
            </a:pPr>
            <a:r>
              <a:t>🏭 AGRICULTURAL SECTOR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206240"/>
            <a:ext cx="5303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Livestock operations (570M farms)</a:t>
            </a:r>
            <a:br/>
            <a:r>
              <a:t>• Poultry &amp; dairy farms</a:t>
            </a:r>
            <a:br/>
            <a:r>
              <a:t>• Aquaculture facilities</a:t>
            </a:r>
            <a:br/>
            <a:r>
              <a:t>• Veterinary clinics</a:t>
            </a:r>
            <a:br/>
            <a:r>
              <a:t>• 40% reduction in costs</a:t>
            </a:r>
            <a:br/>
            <a:r>
              <a:t>• 60% decrease in mortality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6217920"/>
            <a:ext cx="10360152" cy="548640"/>
          </a:xfrm>
          <a:prstGeom prst="roundRect">
            <a:avLst/>
          </a:prstGeom>
          <a:solidFill>
            <a:srgbClr val="F0F8FF"/>
          </a:solidFill>
          <a:ln w="381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6309360"/>
            <a:ext cx="10177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6699"/>
                </a:solidFill>
              </a:defRPr>
            </a:pPr>
            <a:r>
              <a:t>KEY METRICS: 25% increase in production efficiency | 60% decrease in animal mortality | 70% decrease in respiratory illness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06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06699"/>
                </a:solidFill>
              </a:defRPr>
            </a:pPr>
            <a:r>
              <a:t>JOIN THE REVOLUTION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60152" cy="914400"/>
          </a:xfrm>
          <a:prstGeom prst="roundRect">
            <a:avLst/>
          </a:prstGeom>
          <a:solidFill>
            <a:srgbClr val="FFF8DC"/>
          </a:solidFill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772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600"/>
                </a:solidFill>
              </a:defRPr>
            </a:pPr>
            <a:r>
              <a:t>Transform Global Health Through Innovative Mist Technology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108960"/>
            <a:ext cx="5486400" cy="2926080"/>
          </a:xfrm>
          <a:prstGeom prst="roundRect">
            <a:avLst/>
          </a:prstGeom>
          <a:solidFill>
            <a:srgbClr val="ADD8E6"/>
          </a:solidFill>
          <a:ln w="381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6699"/>
                </a:solidFill>
              </a:defRPr>
            </a:pPr>
            <a:r>
              <a:t>🤝 PARTNERSHIP OPPORTUNITIES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5303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Pilot program participation</a:t>
            </a:r>
            <a:br/>
            <a:r>
              <a:t>• Technology development partnership</a:t>
            </a:r>
            <a:br/>
            <a:r>
              <a:t>• Investment &amp; funding opportunities</a:t>
            </a:r>
            <a:br/>
            <a:r>
              <a:t>• Distribution &amp; sales partnerships</a:t>
            </a:r>
            <a:br/>
            <a:r>
              <a:t>• Research &amp; development collaboration</a:t>
            </a:r>
            <a:br/>
            <a:br/>
            <a:r>
              <a:t>💡 WHY PARTNER WITH US</a:t>
            </a:r>
            <a:br/>
            <a:r>
              <a:t>• Proven 99.99% effectiveness</a:t>
            </a:r>
            <a:br/>
            <a:r>
              <a:t>• $32.4B market opportunity</a:t>
            </a:r>
            <a:br/>
            <a:r>
              <a:t>• Strong competitive advantages</a:t>
            </a:r>
            <a:br/>
            <a:r>
              <a:t>• Experienced team &amp; advisors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108960"/>
            <a:ext cx="5486400" cy="2926080"/>
          </a:xfrm>
          <a:prstGeom prst="roundRect">
            <a:avLst/>
          </a:prstGeom>
          <a:solidFill>
            <a:srgbClr val="90EE90"/>
          </a:solidFill>
          <a:ln w="38100"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32918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994C"/>
                </a:solidFill>
              </a:defRPr>
            </a:pPr>
            <a:r>
              <a:t>📋 IMMEDIATE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840480"/>
            <a:ext cx="5303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1. Schedule technology demonstration</a:t>
            </a:r>
            <a:br/>
            <a:r>
              <a:t>2. Discuss pilot program opportunities</a:t>
            </a:r>
            <a:br/>
            <a:r>
              <a:t>3. Explore partnership possibilities</a:t>
            </a:r>
            <a:br/>
            <a:r>
              <a:t>4. Review investment opportunities</a:t>
            </a:r>
            <a:br/>
            <a:r>
              <a:t>5. Join our advisory board</a:t>
            </a:r>
            <a:br/>
            <a:br/>
            <a:r>
              <a:t>📞 CONTACT INFORMATION</a:t>
            </a:r>
            <a:br/>
            <a:r>
              <a:t>Email: partnerships@misthealth.com</a:t>
            </a:r>
            <a:br/>
            <a:r>
              <a:t>Phone: +1-555-MIST-HEALTH</a:t>
            </a:r>
            <a:br/>
            <a:r>
              <a:t>Website: www.misthealth.com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6217920"/>
            <a:ext cx="10360152" cy="548640"/>
          </a:xfrm>
          <a:prstGeom prst="roundRect">
            <a:avLst/>
          </a:prstGeom>
          <a:solidFill>
            <a:srgbClr val="F0FFF0"/>
          </a:solidFill>
          <a:ln w="508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6309360"/>
            <a:ext cx="10177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8A745"/>
                </a:solidFill>
              </a:defRPr>
            </a:pPr>
            <a:r>
              <a:t>Together, we can prevent millions of respiratory infections, save billions in healthcare costs, and create a healthier future for 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