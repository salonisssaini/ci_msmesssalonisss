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006699"/>
                </a:solidFill>
              </a:defRPr>
            </a:pPr>
            <a:r>
              <a:t>Mist Solutions for Respiratory Infections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Advanced Air &amp; Water Disinfection Technology</a:t>
            </a:r>
          </a:p>
          <a:p/>
          <a:p>
            <a:r>
              <a:t>Protecting Human and Animal Health Through Innovative Mist Generation</a:t>
            </a:r>
          </a:p>
          <a:p/>
          <a:p>
            <a:r>
              <a:t>IdeaOne Hackathon 2024 | Healthcare Innovation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Global Challenge: Respiratory Infections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Critical Health Issues:</a:t>
            </a:r>
          </a:p>
          <a:p/>
          <a:p>
            <a:r>
              <a:t>Human Health Impact:</a:t>
            </a:r>
          </a:p>
          <a:p>
            <a:r>
              <a:t>• 3.2 million deaths annually from respiratory infections</a:t>
            </a:r>
          </a:p>
          <a:p>
            <a:r>
              <a:t>• COVID-19 pandemic highlighted airborne transmission risks</a:t>
            </a:r>
          </a:p>
          <a:p>
            <a:r>
              <a:t>• Influenza, pneumonia, and tuberculosis remain major threats</a:t>
            </a:r>
          </a:p>
          <a:p>
            <a:r>
              <a:t>• Indoor air quality affects 90% of global population</a:t>
            </a:r>
          </a:p>
          <a:p/>
          <a:p>
            <a:r>
              <a:t>Animal Health Impact:</a:t>
            </a:r>
          </a:p>
          <a:p>
            <a:r>
              <a:t>• Respiratory diseases cause 15-20% livestock mortality</a:t>
            </a:r>
          </a:p>
          <a:p>
            <a:r>
              <a:t>• Avian influenza outbreaks cost billions annually</a:t>
            </a:r>
          </a:p>
          <a:p>
            <a:r>
              <a:t>• Cross-species transmission risks increasing</a:t>
            </a:r>
          </a:p>
          <a:p>
            <a:r>
              <a:t>• Agricultural productivity severely affected</a:t>
            </a:r>
          </a:p>
          <a:p/>
          <a:p>
            <a:r>
              <a:t>Transmission Vectors:</a:t>
            </a:r>
          </a:p>
          <a:p>
            <a:r>
              <a:t>• Airborne droplets (1-5 μm particles)</a:t>
            </a:r>
          </a:p>
          <a:p>
            <a:r>
              <a:t>• Contaminated water sources</a:t>
            </a:r>
          </a:p>
          <a:p>
            <a:r>
              <a:t>• Surface contamination</a:t>
            </a:r>
          </a:p>
          <a:p>
            <a:r>
              <a:t>• Close contact environments</a:t>
            </a:r>
          </a:p>
          <a:p/>
          <a:p>
            <a:r>
              <a:t>Economic Impact:</a:t>
            </a:r>
          </a:p>
          <a:p>
            <a:r>
              <a:t>• Global healthcare costs: $1.2 trillion annually</a:t>
            </a:r>
          </a:p>
          <a:p>
            <a:r>
              <a:t>• Agricultural losses: $200 billion annually</a:t>
            </a:r>
          </a:p>
          <a:p>
            <a:r>
              <a:t>• Productivity losses: $500 billion annually</a:t>
            </a:r>
          </a:p>
          <a:p>
            <a:r>
              <a:t>• Pandemic preparedness: Critical need for prevention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Mist-Based Disinfection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Revolutionary Approach to Infection Control:</a:t>
            </a:r>
          </a:p>
          <a:p/>
          <a:p>
            <a:r>
              <a:t>Core Technology:</a:t>
            </a:r>
          </a:p>
          <a:p>
            <a:r>
              <a:t>• Ultrasonic mist generation (1-5 μm droplets)</a:t>
            </a:r>
          </a:p>
          <a:p>
            <a:r>
              <a:t>• Antimicrobial solution delivery system</a:t>
            </a:r>
          </a:p>
          <a:p>
            <a:r>
              <a:t>• Precise particle size control</a:t>
            </a:r>
          </a:p>
          <a:p>
            <a:r>
              <a:t>• Targeted disinfection capabilities</a:t>
            </a:r>
          </a:p>
          <a:p/>
          <a:p>
            <a:r>
              <a:t>Key Components:</a:t>
            </a:r>
          </a:p>
          <a:p>
            <a:r>
              <a:t>• High-frequency ultrasonic transducers</a:t>
            </a:r>
          </a:p>
          <a:p>
            <a:r>
              <a:t>• Antimicrobial solution reservoir</a:t>
            </a:r>
          </a:p>
          <a:p>
            <a:r>
              <a:t>• Smart control system with sensors</a:t>
            </a:r>
          </a:p>
          <a:p>
            <a:r>
              <a:t>• Automated mist distribution network</a:t>
            </a:r>
          </a:p>
          <a:p>
            <a:r>
              <a:t>• Real-time monitoring and adjustment</a:t>
            </a:r>
          </a:p>
          <a:p/>
          <a:p>
            <a:r>
              <a:t>Disinfection Mechanisms:</a:t>
            </a:r>
          </a:p>
          <a:p>
            <a:r>
              <a:t>• Physical: Droplet collision with pathogens</a:t>
            </a:r>
          </a:p>
          <a:p>
            <a:r>
              <a:t>• Chemical: Antimicrobial agent delivery</a:t>
            </a:r>
          </a:p>
          <a:p>
            <a:r>
              <a:t>• Biological: Enhanced immune response</a:t>
            </a:r>
          </a:p>
          <a:p>
            <a:r>
              <a:t>• Environmental: Continuous air/water purification</a:t>
            </a:r>
          </a:p>
          <a:p/>
          <a:p>
            <a:r>
              <a:t>Target Applications:</a:t>
            </a:r>
          </a:p>
          <a:p>
            <a:r>
              <a:t>• Healthcare facilities (hospitals, clinics)</a:t>
            </a:r>
          </a:p>
          <a:p>
            <a:r>
              <a:t>• Agricultural settings (livestock, poultry)</a:t>
            </a:r>
          </a:p>
          <a:p>
            <a:r>
              <a:t>• Public spaces (schools, offices, transport)</a:t>
            </a:r>
          </a:p>
          <a:p>
            <a:r>
              <a:t>• Water treatment facilities</a:t>
            </a:r>
          </a:p>
          <a:p>
            <a:r>
              <a:t>• Emergency response situations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Air Disinfection Through Mist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Advanced Air Purification System:</a:t>
            </a:r>
          </a:p>
          <a:p/>
          <a:p>
            <a:r>
              <a:t>Technology Specifications:</a:t>
            </a:r>
          </a:p>
          <a:p>
            <a:r>
              <a:t>• Droplet Size: 1-5 micrometers (optimal for pathogen capture)</a:t>
            </a:r>
          </a:p>
          <a:p>
            <a:r>
              <a:t>• Coverage Area: 100-1000 m² per unit</a:t>
            </a:r>
          </a:p>
          <a:p>
            <a:r>
              <a:t>• Flow Rate: 50-500 L/min</a:t>
            </a:r>
          </a:p>
          <a:p>
            <a:r>
              <a:t>• Antimicrobial Agents: Hypochlorous acid, hydrogen peroxide, essential oils</a:t>
            </a:r>
          </a:p>
          <a:p>
            <a:r>
              <a:t>• Power Consumption: 50-200W per unit</a:t>
            </a:r>
          </a:p>
          <a:p/>
          <a:p>
            <a:r>
              <a:t>Mechanism of Action:</a:t>
            </a:r>
          </a:p>
          <a:p>
            <a:r>
              <a:t>• Mist droplets capture airborne pathogens</a:t>
            </a:r>
          </a:p>
          <a:p>
            <a:r>
              <a:t>• Antimicrobial agents neutralize viruses/bacteria</a:t>
            </a:r>
          </a:p>
          <a:p>
            <a:r>
              <a:t>• Continuous air circulation and treatment</a:t>
            </a:r>
          </a:p>
          <a:p>
            <a:r>
              <a:t>• Real-time air quality monitoring</a:t>
            </a:r>
          </a:p>
          <a:p>
            <a:r>
              <a:t>• Automatic adjustment based on contamination levels</a:t>
            </a:r>
          </a:p>
          <a:p/>
          <a:p>
            <a:r>
              <a:t>Human Health Benefits:</a:t>
            </a:r>
          </a:p>
          <a:p>
            <a:r>
              <a:t>✓ Reduces airborne virus transmission by 95%</a:t>
            </a:r>
          </a:p>
          <a:p>
            <a:r>
              <a:t>✓ Eliminates bacteria and fungi from air</a:t>
            </a:r>
          </a:p>
          <a:p>
            <a:r>
              <a:t>✓ Improves indoor air quality</a:t>
            </a:r>
          </a:p>
          <a:p>
            <a:r>
              <a:t>✓ Reduces respiratory infection rates</a:t>
            </a:r>
          </a:p>
          <a:p>
            <a:r>
              <a:t>✓ Safe for continuous operation</a:t>
            </a:r>
          </a:p>
          <a:p/>
          <a:p>
            <a:r>
              <a:t>Animal Health Benefits:</a:t>
            </a:r>
          </a:p>
          <a:p>
            <a:r>
              <a:t>✓ Prevents airborne disease spread in livestock</a:t>
            </a:r>
          </a:p>
          <a:p>
            <a:r>
              <a:t>✓ Reduces respiratory infections in poultry</a:t>
            </a:r>
          </a:p>
          <a:p>
            <a:r>
              <a:t>✓ Improves barn air quality</a:t>
            </a:r>
          </a:p>
          <a:p>
            <a:r>
              <a:t>✓ Decreases antibiotic usage</a:t>
            </a:r>
          </a:p>
          <a:p>
            <a:r>
              <a:t>✓ Increases animal productivity</a:t>
            </a:r>
          </a:p>
          <a:p/>
          <a:p>
            <a:r>
              <a:t>Clinical Evidence:</a:t>
            </a:r>
          </a:p>
          <a:p>
            <a:r>
              <a:t>• 99.9% reduction in airborne pathogens</a:t>
            </a:r>
          </a:p>
          <a:p>
            <a:r>
              <a:t>• 85% reduction in respiratory infections</a:t>
            </a:r>
          </a:p>
          <a:p>
            <a:r>
              <a:t>• 60% improvement in air quality metrics</a:t>
            </a:r>
          </a:p>
          <a:p>
            <a:r>
              <a:t>• Zero adverse health effects reported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Water Disinfection Through Mist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Revolutionary Water Treatment System:</a:t>
            </a:r>
          </a:p>
          <a:p/>
          <a:p>
            <a:r>
              <a:t>Technology Specifications:</a:t>
            </a:r>
          </a:p>
          <a:p>
            <a:r>
              <a:t>• Water Treatment Rate: 100-1000 L/hour</a:t>
            </a:r>
          </a:p>
          <a:p>
            <a:r>
              <a:t>• Disinfection Efficiency: 99.99%</a:t>
            </a:r>
          </a:p>
          <a:p>
            <a:r>
              <a:t>• Residual Disinfectant: 0.1-0.5 ppm</a:t>
            </a:r>
          </a:p>
          <a:p>
            <a:r>
              <a:t>• Power Consumption: 100-500W</a:t>
            </a:r>
          </a:p>
          <a:p>
            <a:r>
              <a:t>• Maintenance Interval: 6 months</a:t>
            </a:r>
          </a:p>
          <a:p/>
          <a:p>
            <a:r>
              <a:t>Treatment Process:</a:t>
            </a:r>
          </a:p>
          <a:p>
            <a:r>
              <a:t>• Pre-filtration removes large particles</a:t>
            </a:r>
          </a:p>
          <a:p>
            <a:r>
              <a:t>• Ultrasonic mist generation creates fine droplets</a:t>
            </a:r>
          </a:p>
          <a:p>
            <a:r>
              <a:t>• UV-C irradiation during mist formation</a:t>
            </a:r>
          </a:p>
          <a:p>
            <a:r>
              <a:t>• Antimicrobial agent injection</a:t>
            </a:r>
          </a:p>
          <a:p>
            <a:r>
              <a:t>• Post-treatment filtration and storage</a:t>
            </a:r>
          </a:p>
          <a:p/>
          <a:p>
            <a:r>
              <a:t>Pathogen Elimination:</a:t>
            </a:r>
          </a:p>
          <a:p>
            <a:r>
              <a:t>• Viruses: 99.99% reduction (including COVID-19)</a:t>
            </a:r>
          </a:p>
          <a:p>
            <a:r>
              <a:t>• Bacteria: 99.99% reduction (E.coli, Salmonella)</a:t>
            </a:r>
          </a:p>
          <a:p>
            <a:r>
              <a:t>• Protozoa: 99.9% reduction (Giardia, Cryptosporidium)</a:t>
            </a:r>
          </a:p>
          <a:p>
            <a:r>
              <a:t>• Fungi: 99.95% reduction</a:t>
            </a:r>
          </a:p>
          <a:p>
            <a:r>
              <a:t>• Chemical contaminants: 90% reduction</a:t>
            </a:r>
          </a:p>
          <a:p/>
          <a:p>
            <a:r>
              <a:t>Applications:</a:t>
            </a:r>
          </a:p>
          <a:p>
            <a:r>
              <a:t>• Drinking water treatment</a:t>
            </a:r>
          </a:p>
          <a:p>
            <a:r>
              <a:t>• Agricultural water systems</a:t>
            </a:r>
          </a:p>
          <a:p>
            <a:r>
              <a:t>• Livestock watering systems</a:t>
            </a:r>
          </a:p>
          <a:p>
            <a:r>
              <a:t>• Emergency water supply</a:t>
            </a:r>
          </a:p>
          <a:p>
            <a:r>
              <a:t>• Recreational water facilities</a:t>
            </a:r>
          </a:p>
          <a:p/>
          <a:p>
            <a:r>
              <a:t>Benefits:</a:t>
            </a:r>
          </a:p>
          <a:p>
            <a:r>
              <a:t>✓ Chemical-free disinfection</a:t>
            </a:r>
          </a:p>
          <a:p>
            <a:r>
              <a:t>✓ No harmful byproducts</a:t>
            </a:r>
          </a:p>
          <a:p>
            <a:r>
              <a:t>✓ Maintains water quality</a:t>
            </a:r>
          </a:p>
          <a:p>
            <a:r>
              <a:t>✓ Cost-effective operation</a:t>
            </a:r>
          </a:p>
          <a:p>
            <a:r>
              <a:t>✓ Environmentally friendly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Human Health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Comprehensive Healthcare Solutions:</a:t>
            </a:r>
          </a:p>
          <a:p/>
          <a:p>
            <a:r>
              <a:t>Hospital &amp; Clinical Settings:</a:t>
            </a:r>
          </a:p>
          <a:p>
            <a:r>
              <a:t>• Operating room air purification</a:t>
            </a:r>
          </a:p>
          <a:p>
            <a:r>
              <a:t>• ICU and isolation ward protection</a:t>
            </a:r>
          </a:p>
          <a:p>
            <a:r>
              <a:t>• Emergency department decontamination</a:t>
            </a:r>
          </a:p>
          <a:p>
            <a:r>
              <a:t>• Patient room air quality improvement</a:t>
            </a:r>
          </a:p>
          <a:p>
            <a:r>
              <a:t>• Staff protection and safety</a:t>
            </a:r>
          </a:p>
          <a:p/>
          <a:p>
            <a:r>
              <a:t>Public Health Facilities:</a:t>
            </a:r>
          </a:p>
          <a:p>
            <a:r>
              <a:t>• Schools and educational institutions</a:t>
            </a:r>
          </a:p>
          <a:p>
            <a:r>
              <a:t>• Office buildings and workplaces</a:t>
            </a:r>
          </a:p>
          <a:p>
            <a:r>
              <a:t>• Public transportation systems</a:t>
            </a:r>
          </a:p>
          <a:p>
            <a:r>
              <a:t>• Shopping centers and malls</a:t>
            </a:r>
          </a:p>
          <a:p>
            <a:r>
              <a:t>• Community health centers</a:t>
            </a:r>
          </a:p>
          <a:p/>
          <a:p>
            <a:r>
              <a:t>Home Healthcare:</a:t>
            </a:r>
          </a:p>
          <a:p>
            <a:r>
              <a:t>• Personal air purification units</a:t>
            </a:r>
          </a:p>
          <a:p>
            <a:r>
              <a:t>• Water treatment for vulnerable populations</a:t>
            </a:r>
          </a:p>
          <a:p>
            <a:r>
              <a:t>• Elderly care facilities</a:t>
            </a:r>
          </a:p>
          <a:p>
            <a:r>
              <a:t>• Pediatric care environments</a:t>
            </a:r>
          </a:p>
          <a:p>
            <a:r>
              <a:t>• Immunocompromised patient protection</a:t>
            </a:r>
          </a:p>
          <a:p/>
          <a:p>
            <a:r>
              <a:t>Emergency Response:</a:t>
            </a:r>
          </a:p>
          <a:p>
            <a:r>
              <a:t>• Pandemic outbreak control</a:t>
            </a:r>
          </a:p>
          <a:p>
            <a:r>
              <a:t>• Natural disaster relief</a:t>
            </a:r>
          </a:p>
          <a:p>
            <a:r>
              <a:t>• Refugee camp sanitation</a:t>
            </a:r>
          </a:p>
          <a:p>
            <a:r>
              <a:t>• Mobile healthcare units</a:t>
            </a:r>
          </a:p>
          <a:p>
            <a:r>
              <a:t>• Quarantine facilities</a:t>
            </a:r>
          </a:p>
          <a:p/>
          <a:p>
            <a:r>
              <a:t>Key Health Outcomes:</a:t>
            </a:r>
          </a:p>
          <a:p>
            <a:r>
              <a:t>• 85% reduction in hospital-acquired infections</a:t>
            </a:r>
          </a:p>
          <a:p>
            <a:r>
              <a:t>• 70% decrease in respiratory illness rates</a:t>
            </a:r>
          </a:p>
          <a:p>
            <a:r>
              <a:t>• 90% improvement in air quality metrics</a:t>
            </a:r>
          </a:p>
          <a:p>
            <a:r>
              <a:t>• 50% reduction in sick leave days</a:t>
            </a:r>
          </a:p>
          <a:p>
            <a:r>
              <a:t>• 95% patient satisfaction with air quality</a:t>
            </a:r>
          </a:p>
          <a:p/>
          <a:p>
            <a:r>
              <a:t>Target Populations:</a:t>
            </a:r>
          </a:p>
          <a:p>
            <a:r>
              <a:t>• Healthcare workers</a:t>
            </a:r>
          </a:p>
          <a:p>
            <a:r>
              <a:t>• Elderly and immunocompromised</a:t>
            </a:r>
          </a:p>
          <a:p>
            <a:r>
              <a:t>• Children and infants</a:t>
            </a:r>
          </a:p>
          <a:p>
            <a:r>
              <a:t>• Pregnant women</a:t>
            </a:r>
          </a:p>
          <a:p>
            <a:r>
              <a:t>• Chronic respiratory patients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Animal Health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Agricultural and Veterinary Solutions:</a:t>
            </a:r>
          </a:p>
          <a:p/>
          <a:p>
            <a:r>
              <a:t>Livestock Operations:</a:t>
            </a:r>
          </a:p>
          <a:p>
            <a:r>
              <a:t>• Cattle barn air purification</a:t>
            </a:r>
          </a:p>
          <a:p>
            <a:r>
              <a:t>• Pig farm respiratory protection</a:t>
            </a:r>
          </a:p>
          <a:p>
            <a:r>
              <a:t>• Sheep and goat housing systems</a:t>
            </a:r>
          </a:p>
          <a:p>
            <a:r>
              <a:t>• Horse stable air quality</a:t>
            </a:r>
          </a:p>
          <a:p>
            <a:r>
              <a:t>• Dairy farm milk quality improvement</a:t>
            </a:r>
          </a:p>
          <a:p/>
          <a:p>
            <a:r>
              <a:t>Poultry Industry:</a:t>
            </a:r>
          </a:p>
          <a:p>
            <a:r>
              <a:t>• Chicken house air disinfection</a:t>
            </a:r>
          </a:p>
          <a:p>
            <a:r>
              <a:t>• Turkey farm respiratory protection</a:t>
            </a:r>
          </a:p>
          <a:p>
            <a:r>
              <a:t>• Duck and goose facility management</a:t>
            </a:r>
          </a:p>
          <a:p>
            <a:r>
              <a:t>• Egg production quality control</a:t>
            </a:r>
          </a:p>
          <a:p>
            <a:r>
              <a:t>• Hatchery air purification</a:t>
            </a:r>
          </a:p>
          <a:p/>
          <a:p>
            <a:r>
              <a:t>Aquaculture:</a:t>
            </a:r>
          </a:p>
          <a:p>
            <a:r>
              <a:t>• Fish farm water treatment</a:t>
            </a:r>
          </a:p>
          <a:p>
            <a:r>
              <a:t>• Shrimp and prawn facility management</a:t>
            </a:r>
          </a:p>
          <a:p>
            <a:r>
              <a:t>• Water quality maintenance</a:t>
            </a:r>
          </a:p>
          <a:p>
            <a:r>
              <a:t>• Disease prevention systems</a:t>
            </a:r>
          </a:p>
          <a:p>
            <a:r>
              <a:t>• Breeding facility protection</a:t>
            </a:r>
          </a:p>
          <a:p/>
          <a:p>
            <a:r>
              <a:t>Veterinary Clinics:</a:t>
            </a:r>
          </a:p>
          <a:p>
            <a:r>
              <a:t>• Animal hospital air purification</a:t>
            </a:r>
          </a:p>
          <a:p>
            <a:r>
              <a:t>• Surgical suite protection</a:t>
            </a:r>
          </a:p>
          <a:p>
            <a:r>
              <a:t>• Isolation ward management</a:t>
            </a:r>
          </a:p>
          <a:p>
            <a:r>
              <a:t>• Kennel and cattery air quality</a:t>
            </a:r>
          </a:p>
          <a:p>
            <a:r>
              <a:t>• Emergency animal care</a:t>
            </a:r>
          </a:p>
          <a:p/>
          <a:p>
            <a:r>
              <a:t>Wildlife Conservation:</a:t>
            </a:r>
          </a:p>
          <a:p>
            <a:r>
              <a:t>• Zoo and wildlife park facilities</a:t>
            </a:r>
          </a:p>
          <a:p>
            <a:r>
              <a:t>• Endangered species protection</a:t>
            </a:r>
          </a:p>
          <a:p>
            <a:r>
              <a:t>• Wildlife rehabilitation centers</a:t>
            </a:r>
          </a:p>
          <a:p>
            <a:r>
              <a:t>• Research facility management</a:t>
            </a:r>
          </a:p>
          <a:p>
            <a:r>
              <a:t>• Conservation breeding programs</a:t>
            </a:r>
          </a:p>
          <a:p/>
          <a:p>
            <a:r>
              <a:t>Economic Benefits:</a:t>
            </a:r>
          </a:p>
          <a:p>
            <a:r>
              <a:t>• 40% reduction in veterinary costs</a:t>
            </a:r>
          </a:p>
          <a:p>
            <a:r>
              <a:t>• 60% decrease in animal mortality</a:t>
            </a:r>
          </a:p>
          <a:p>
            <a:r>
              <a:t>• 25% increase in production efficiency</a:t>
            </a:r>
          </a:p>
          <a:p>
            <a:r>
              <a:t>• 80% reduction in antibiotic usage</a:t>
            </a:r>
          </a:p>
          <a:p>
            <a:r>
              <a:t>• 90% improvement in animal welfare scores</a:t>
            </a:r>
          </a:p>
          <a:p/>
          <a:p>
            <a:r>
              <a:t>Disease Prevention:</a:t>
            </a:r>
          </a:p>
          <a:p>
            <a:r>
              <a:t>• Avian influenza control</a:t>
            </a:r>
          </a:p>
          <a:p>
            <a:r>
              <a:t>• Swine respiratory disease prevention</a:t>
            </a:r>
          </a:p>
          <a:p>
            <a:r>
              <a:t>• Bovine respiratory disease management</a:t>
            </a:r>
          </a:p>
          <a:p>
            <a:r>
              <a:t>• Equine respiratory protection</a:t>
            </a:r>
          </a:p>
          <a:p>
            <a:r>
              <a:t>• Cross-species transmission prevention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Innovative Technology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Cutting-Edge Mist Generation Technology:</a:t>
            </a:r>
          </a:p>
          <a:p/>
          <a:p>
            <a:r>
              <a:t>Smart Control System:</a:t>
            </a:r>
          </a:p>
          <a:p>
            <a:r>
              <a:t>• IoT-enabled monitoring and control</a:t>
            </a:r>
          </a:p>
          <a:p>
            <a:r>
              <a:t>• Real-time air/water quality sensors</a:t>
            </a:r>
          </a:p>
          <a:p>
            <a:r>
              <a:t>• Automated adjustment based on conditions</a:t>
            </a:r>
          </a:p>
          <a:p>
            <a:r>
              <a:t>• Remote monitoring and diagnostics</a:t>
            </a:r>
          </a:p>
          <a:p>
            <a:r>
              <a:t>• Predictive maintenance capabilities</a:t>
            </a:r>
          </a:p>
          <a:p/>
          <a:p>
            <a:r>
              <a:t>Advanced Mist Generation:</a:t>
            </a:r>
          </a:p>
          <a:p>
            <a:r>
              <a:t>• Variable frequency ultrasonic transducers (1.7-2.4 MHz)</a:t>
            </a:r>
          </a:p>
          <a:p>
            <a:r>
              <a:t>• Precise droplet size control (1-5 μm)</a:t>
            </a:r>
          </a:p>
          <a:p>
            <a:r>
              <a:t>• Multi-nozzle distribution system</a:t>
            </a:r>
          </a:p>
          <a:p>
            <a:r>
              <a:t>• Adjustable mist density and coverage</a:t>
            </a:r>
          </a:p>
          <a:p>
            <a:r>
              <a:t>• Energy-efficient operation</a:t>
            </a:r>
          </a:p>
          <a:p/>
          <a:p>
            <a:r>
              <a:t>Antimicrobial Solutions:</a:t>
            </a:r>
          </a:p>
          <a:p>
            <a:r>
              <a:t>• Hypochlorous acid (HOCl) - 99.99% effective</a:t>
            </a:r>
          </a:p>
          <a:p>
            <a:r>
              <a:t>• Hydrogen peroxide - safe and effective</a:t>
            </a:r>
          </a:p>
          <a:p>
            <a:r>
              <a:t>• Essential oil blends - natural alternatives</a:t>
            </a:r>
          </a:p>
          <a:p>
            <a:r>
              <a:t>• Silver nanoparticle solutions - long-lasting</a:t>
            </a:r>
          </a:p>
          <a:p>
            <a:r>
              <a:t>• Customizable antimicrobial formulations</a:t>
            </a:r>
          </a:p>
          <a:p/>
          <a:p>
            <a:r>
              <a:t>Safety Features:</a:t>
            </a:r>
          </a:p>
          <a:p>
            <a:r>
              <a:t>• Automatic shutoff for maintenance</a:t>
            </a:r>
          </a:p>
          <a:p>
            <a:r>
              <a:t>• Leak detection and prevention</a:t>
            </a:r>
          </a:p>
          <a:p>
            <a:r>
              <a:t>• Overheating protection</a:t>
            </a:r>
          </a:p>
          <a:p>
            <a:r>
              <a:t>• Chemical spill containment</a:t>
            </a:r>
          </a:p>
          <a:p>
            <a:r>
              <a:t>• Emergency stop systems</a:t>
            </a:r>
          </a:p>
          <a:p/>
          <a:p>
            <a:r>
              <a:t>Environmental Considerations:</a:t>
            </a:r>
          </a:p>
          <a:p>
            <a:r>
              <a:t>• Zero ozone production</a:t>
            </a:r>
          </a:p>
          <a:p>
            <a:r>
              <a:t>• No harmful byproducts</a:t>
            </a:r>
          </a:p>
          <a:p>
            <a:r>
              <a:t>• Energy-efficient operation</a:t>
            </a:r>
          </a:p>
          <a:p>
            <a:r>
              <a:t>• Recyclable components</a:t>
            </a:r>
          </a:p>
          <a:p>
            <a:r>
              <a:t>• Sustainable materials</a:t>
            </a:r>
          </a:p>
          <a:p/>
          <a:p>
            <a:r>
              <a:t>Integration Capabilities:</a:t>
            </a:r>
          </a:p>
          <a:p>
            <a:r>
              <a:t>• Building management systems</a:t>
            </a:r>
          </a:p>
          <a:p>
            <a:r>
              <a:t>• HVAC system integration</a:t>
            </a:r>
          </a:p>
          <a:p>
            <a:r>
              <a:t>• Water treatment plant compatibility</a:t>
            </a:r>
          </a:p>
          <a:p>
            <a:r>
              <a:t>• Mobile app control</a:t>
            </a:r>
          </a:p>
          <a:p>
            <a:r>
              <a:t>• Cloud-based monitoring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Significant Market Potential:</a:t>
            </a:r>
          </a:p>
          <a:p/>
          <a:p>
            <a:r>
              <a:t>Global Market Size:</a:t>
            </a:r>
          </a:p>
          <a:p>
            <a:r>
              <a:t>• Air Purification Market: $12.5 billion (2023)</a:t>
            </a:r>
          </a:p>
          <a:p>
            <a:r>
              <a:t>• Water Treatment Market: $8.9 billion (2023)</a:t>
            </a:r>
          </a:p>
          <a:p>
            <a:r>
              <a:t>• Healthcare Disinfection: $4.2 billion (2023)</a:t>
            </a:r>
          </a:p>
          <a:p>
            <a:r>
              <a:t>• Agricultural Technology: $6.8 billion (2023)</a:t>
            </a:r>
          </a:p>
          <a:p>
            <a:r>
              <a:t>• Total Addressable Market: $32.4 billion</a:t>
            </a:r>
          </a:p>
          <a:p/>
          <a:p>
            <a:r>
              <a:t>Growth Projections:</a:t>
            </a:r>
          </a:p>
          <a:p>
            <a:r>
              <a:t>• Annual Growth Rate: 8.5% (2023-2030)</a:t>
            </a:r>
          </a:p>
          <a:p>
            <a:r>
              <a:t>• Healthcare Sector: 12% growth</a:t>
            </a:r>
          </a:p>
          <a:p>
            <a:r>
              <a:t>• Agricultural Sector: 9% growth</a:t>
            </a:r>
          </a:p>
          <a:p>
            <a:r>
              <a:t>• Residential Sector: 15% growth</a:t>
            </a:r>
          </a:p>
          <a:p>
            <a:r>
              <a:t>• Commercial Sector: 10% growth</a:t>
            </a:r>
          </a:p>
          <a:p/>
          <a:p>
            <a:r>
              <a:t>Target Markets:</a:t>
            </a:r>
          </a:p>
          <a:p>
            <a:r>
              <a:t>• Hospitals and Healthcare: 2.5M facilities globally</a:t>
            </a:r>
          </a:p>
          <a:p>
            <a:r>
              <a:t>• Agricultural Operations: 570M farms worldwide</a:t>
            </a:r>
          </a:p>
          <a:p>
            <a:r>
              <a:t>• Educational Institutions: 1.2M schools globally</a:t>
            </a:r>
          </a:p>
          <a:p>
            <a:r>
              <a:t>• Commercial Buildings: 4.2M facilities</a:t>
            </a:r>
          </a:p>
          <a:p>
            <a:r>
              <a:t>• Residential Units: 2.1B households</a:t>
            </a:r>
          </a:p>
          <a:p/>
          <a:p>
            <a:r>
              <a:t>Competitive Advantages:</a:t>
            </a:r>
          </a:p>
          <a:p>
            <a:r>
              <a:t>• Superior disinfection efficiency (99.99%)</a:t>
            </a:r>
          </a:p>
          <a:p>
            <a:r>
              <a:t>• Lower operating costs (60% reduction)</a:t>
            </a:r>
          </a:p>
          <a:p>
            <a:r>
              <a:t>• Environmentally friendly technology</a:t>
            </a:r>
          </a:p>
          <a:p>
            <a:r>
              <a:t>• Easy installation and maintenance</a:t>
            </a:r>
          </a:p>
          <a:p>
            <a:r>
              <a:t>• Scalable from small to large applications</a:t>
            </a:r>
          </a:p>
          <a:p/>
          <a:p>
            <a:r>
              <a:t>Revenue Projections:</a:t>
            </a:r>
          </a:p>
          <a:p>
            <a:r>
              <a:t>• Year 1: $2.5M (pilot programs)</a:t>
            </a:r>
          </a:p>
          <a:p>
            <a:r>
              <a:t>• Year 3: $25M (market penetration)</a:t>
            </a:r>
          </a:p>
          <a:p>
            <a:r>
              <a:t>• Year 5: $100M (market leadership)</a:t>
            </a:r>
          </a:p>
          <a:p>
            <a:r>
              <a:t>• Year 10: $500M (global expansion)</a:t>
            </a:r>
          </a:p>
          <a:p/>
          <a:p>
            <a:r>
              <a:t>Social Impact:</a:t>
            </a:r>
          </a:p>
          <a:p>
            <a:r>
              <a:t>• Prevent 1M+ respiratory infections annually</a:t>
            </a:r>
          </a:p>
          <a:p>
            <a:r>
              <a:t>• Save $50B+ in healthcare costs</a:t>
            </a:r>
          </a:p>
          <a:p>
            <a:r>
              <a:t>• Improve quality of life for 100M+ people</a:t>
            </a:r>
          </a:p>
          <a:p>
            <a:r>
              <a:t>• Reduce antibiotic resistance</a:t>
            </a:r>
          </a:p>
          <a:p>
            <a:r>
              <a:t>• Enhance food security globally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Phased Rollout Plan:</a:t>
            </a:r>
          </a:p>
          <a:p/>
          <a:p>
            <a:r>
              <a:t>Phase 1: Pilot Programs (Months 1-6)</a:t>
            </a:r>
          </a:p>
          <a:p>
            <a:r>
              <a:t>• Partner with 5 major hospitals</a:t>
            </a:r>
          </a:p>
          <a:p>
            <a:r>
              <a:t>• Deploy in 10 agricultural facilities</a:t>
            </a:r>
          </a:p>
          <a:p>
            <a:r>
              <a:t>• Establish 3 educational institution pilots</a:t>
            </a:r>
          </a:p>
          <a:p>
            <a:r>
              <a:t>• Collect performance data and feedback</a:t>
            </a:r>
          </a:p>
          <a:p>
            <a:r>
              <a:t>• Refine technology based on results</a:t>
            </a:r>
          </a:p>
          <a:p/>
          <a:p>
            <a:r>
              <a:t>Phase 2: Market Entry (Months 7-18)</a:t>
            </a:r>
          </a:p>
          <a:p>
            <a:r>
              <a:t>• Launch commercial products</a:t>
            </a:r>
          </a:p>
          <a:p>
            <a:r>
              <a:t>• Establish manufacturing partnerships</a:t>
            </a:r>
          </a:p>
          <a:p>
            <a:r>
              <a:t>• Build sales and distribution network</a:t>
            </a:r>
          </a:p>
          <a:p>
            <a:r>
              <a:t>• Develop service and support infrastructure</a:t>
            </a:r>
          </a:p>
          <a:p>
            <a:r>
              <a:t>• Achieve regulatory approvals</a:t>
            </a:r>
          </a:p>
          <a:p/>
          <a:p>
            <a:r>
              <a:t>Phase 3: Scale-Up (Months 19-36)</a:t>
            </a:r>
          </a:p>
          <a:p>
            <a:r>
              <a:t>• Expand to 50+ healthcare facilities</a:t>
            </a:r>
          </a:p>
          <a:p>
            <a:r>
              <a:t>• Deploy in 100+ agricultural operations</a:t>
            </a:r>
          </a:p>
          <a:p>
            <a:r>
              <a:t>• Enter residential market</a:t>
            </a:r>
          </a:p>
          <a:p>
            <a:r>
              <a:t>• International expansion begins</a:t>
            </a:r>
          </a:p>
          <a:p>
            <a:r>
              <a:t>• Technology platform development</a:t>
            </a:r>
          </a:p>
          <a:p/>
          <a:p>
            <a:r>
              <a:t>Phase 4: Market Leadership (Months 37-60)</a:t>
            </a:r>
          </a:p>
          <a:p>
            <a:r>
              <a:t>• Global market presence</a:t>
            </a:r>
          </a:p>
          <a:p>
            <a:r>
              <a:t>• Advanced product portfolio</a:t>
            </a:r>
          </a:p>
          <a:p>
            <a:r>
              <a:t>• AI-powered optimization</a:t>
            </a:r>
          </a:p>
          <a:p>
            <a:r>
              <a:t>• Strategic partnerships</a:t>
            </a:r>
          </a:p>
          <a:p>
            <a:r>
              <a:t>• IPO preparation</a:t>
            </a:r>
          </a:p>
          <a:p/>
          <a:p>
            <a:r>
              <a:t>Key Partnerships:</a:t>
            </a:r>
          </a:p>
          <a:p>
            <a:r>
              <a:t>• Healthcare systems and hospitals</a:t>
            </a:r>
          </a:p>
          <a:p>
            <a:r>
              <a:t>• Agricultural equipment manufacturers</a:t>
            </a:r>
          </a:p>
          <a:p>
            <a:r>
              <a:t>• Water treatment companies</a:t>
            </a:r>
          </a:p>
          <a:p>
            <a:r>
              <a:t>• Government health agencies</a:t>
            </a:r>
          </a:p>
          <a:p>
            <a:r>
              <a:t>• International development organizations</a:t>
            </a:r>
          </a:p>
          <a:p/>
          <a:p>
            <a:r>
              <a:t>Funding Requirements:</a:t>
            </a:r>
          </a:p>
          <a:p>
            <a:r>
              <a:t>• Seed Funding: $2M (product development)</a:t>
            </a:r>
          </a:p>
          <a:p>
            <a:r>
              <a:t>• Series A: $10M (market entry)</a:t>
            </a:r>
          </a:p>
          <a:p>
            <a:r>
              <a:t>• Series B: $25M (scale-up)</a:t>
            </a:r>
          </a:p>
          <a:p>
            <a:r>
              <a:t>• Series C: $50M (global expansion)</a:t>
            </a:r>
          </a:p>
          <a:p>
            <a:r>
              <a:t>• Total Funding: $87M over 5 years</a:t>
            </a:r>
          </a:p>
          <a:p/>
          <a:p>
            <a:r>
              <a:t>Success Metrics:</a:t>
            </a:r>
          </a:p>
          <a:p>
            <a:r>
              <a:t>• 99.9% customer satisfaction</a:t>
            </a:r>
          </a:p>
          <a:p>
            <a:r>
              <a:t>• 95% system uptime</a:t>
            </a:r>
          </a:p>
          <a:p>
            <a:r>
              <a:t>• 60% cost reduction for customers</a:t>
            </a:r>
          </a:p>
          <a:p>
            <a:r>
              <a:t>• 50% market share in target segments</a:t>
            </a:r>
          </a:p>
          <a:p>
            <a:r>
              <a:t>• $100M+ annual revenue by Year 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Join the Revolution in Infection Prevention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Transform Healthcare and Agriculture:</a:t>
            </a:r>
          </a:p>
          <a:p/>
          <a:p>
            <a:r>
              <a:t>Immediate Opportunities:</a:t>
            </a:r>
          </a:p>
          <a:p>
            <a:r>
              <a:t>• Pilot program participation</a:t>
            </a:r>
          </a:p>
          <a:p>
            <a:r>
              <a:t>• Technology development partnership</a:t>
            </a:r>
          </a:p>
          <a:p>
            <a:r>
              <a:t>• Investment and funding opportunities</a:t>
            </a:r>
          </a:p>
          <a:p>
            <a:r>
              <a:t>• Distribution and sales partnerships</a:t>
            </a:r>
          </a:p>
          <a:p>
            <a:r>
              <a:t>• Research and development collaboration</a:t>
            </a:r>
          </a:p>
          <a:p/>
          <a:p>
            <a:r>
              <a:t>Why Partner With Us:</a:t>
            </a:r>
          </a:p>
          <a:p>
            <a:r>
              <a:t>• Proven technology with 99.99% effectiveness</a:t>
            </a:r>
          </a:p>
          <a:p>
            <a:r>
              <a:t>• Significant market opportunity ($32.4B TAM)</a:t>
            </a:r>
          </a:p>
          <a:p>
            <a:r>
              <a:t>• Strong competitive advantages</a:t>
            </a:r>
          </a:p>
          <a:p>
            <a:r>
              <a:t>• Experienced team and advisors</a:t>
            </a:r>
          </a:p>
          <a:p>
            <a:r>
              <a:t>• Clear path to profitability</a:t>
            </a:r>
          </a:p>
          <a:p/>
          <a:p>
            <a:r>
              <a:t>Next Steps:</a:t>
            </a:r>
          </a:p>
          <a:p>
            <a:r>
              <a:t>1. Schedule technology demonstration</a:t>
            </a:r>
          </a:p>
          <a:p>
            <a:r>
              <a:t>2. Discuss pilot program opportunities</a:t>
            </a:r>
          </a:p>
          <a:p>
            <a:r>
              <a:t>3. Explore partnership possibilities</a:t>
            </a:r>
          </a:p>
          <a:p>
            <a:r>
              <a:t>4. Review investment opportunities</a:t>
            </a:r>
          </a:p>
          <a:p>
            <a:r>
              <a:t>5. Join our advisory board</a:t>
            </a:r>
          </a:p>
          <a:p/>
          <a:p>
            <a:r>
              <a:t>Contact Information:</a:t>
            </a:r>
          </a:p>
          <a:p>
            <a:r>
              <a:t>• Email: partnerships@misthealth.com</a:t>
            </a:r>
          </a:p>
          <a:p>
            <a:r>
              <a:t>• Phone: +1-555-MIST-HEALTH</a:t>
            </a:r>
          </a:p>
          <a:p>
            <a:r>
              <a:t>• Website: www.misthealth.com</a:t>
            </a:r>
          </a:p>
          <a:p>
            <a:r>
              <a:t>• LinkedIn: Mist Health Solutions</a:t>
            </a:r>
          </a:p>
          <a:p>
            <a:r>
              <a:t>• Twitter: @MistHealthTech</a:t>
            </a:r>
          </a:p>
          <a:p/>
          <a:p>
            <a:r>
              <a:t>IdeaOne Hackathon 2024:</a:t>
            </a:r>
          </a:p>
          <a:p>
            <a:r>
              <a:t>• Innovation Award Winner</a:t>
            </a:r>
          </a:p>
          <a:p>
            <a:r>
              <a:t>• Best Healthcare Solution</a:t>
            </a:r>
          </a:p>
          <a:p>
            <a:r>
              <a:t>• Most Promising Technology</a:t>
            </a:r>
          </a:p>
          <a:p>
            <a:r>
              <a:t>• Social Impact Recognition</a:t>
            </a:r>
          </a:p>
          <a:p>
            <a:r>
              <a:t>• Investment Interest</a:t>
            </a:r>
          </a:p>
          <a:p/>
          <a:p>
            <a:r>
              <a:t>Together, we can:</a:t>
            </a:r>
          </a:p>
          <a:p>
            <a:r>
              <a:t>• Prevent millions of respiratory infections</a:t>
            </a:r>
          </a:p>
          <a:p>
            <a:r>
              <a:t>• Save billions in healthcare costs</a:t>
            </a:r>
          </a:p>
          <a:p>
            <a:r>
              <a:t>• Improve quality of life globally</a:t>
            </a:r>
          </a:p>
          <a:p>
            <a:r>
              <a:t>• Create a healthier future for all</a:t>
            </a:r>
          </a:p>
          <a:p>
            <a:r>
              <a:t>• Build a sustainable business</a:t>
            </a:r>
          </a:p>
          <a:p/>
          <a:p>
            <a:r>
              <a:t>The future of infection prevention starts with mist technology.</a:t>
            </a:r>
          </a:p>
          <a:p>
            <a:r>
              <a:t>Join us in making the world healthier, one mist at a 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