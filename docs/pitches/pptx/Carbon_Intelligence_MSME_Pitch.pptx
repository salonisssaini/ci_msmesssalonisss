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10362895" cy="2560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400" b="0">
                <a:solidFill>
                  <a:srgbClr val="111111"/>
                </a:solidFill>
                <a:latin typeface="Calibri"/>
              </a:rPr>
              <a:t>MAP Day Update</a:t>
            </a:r>
          </a:p>
          <a:p>
            <a:pPr algn="ctr"/>
            <a:r>
              <a:rPr sz="2000" b="0">
                <a:solidFill>
                  <a:srgbClr val="222222"/>
                </a:solidFill>
                <a:latin typeface="Calibri"/>
              </a:rPr>
              <a:t>Carbon Intelligence</a:t>
            </a:r>
          </a:p>
          <a:p>
            <a:pPr algn="ctr"/>
            <a:r>
              <a:rPr sz="2000" b="0">
                <a:solidFill>
                  <a:srgbClr val="222222"/>
                </a:solidFill>
                <a:latin typeface="Calibri"/>
              </a:rPr>
              <a:t>Pitch for MSMEs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46520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0">
                <a:solidFill>
                  <a:srgbClr val="666666"/>
                </a:solidFill>
                <a:latin typeface="Calibri"/>
              </a:rPr>
              <a:t>Customer deck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486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111111"/>
                </a:solidFill>
                <a:latin typeface="Calibri"/>
              </a:rPr>
              <a:t>The promise</a:t>
            </a:r>
          </a:p>
        </p:txBody>
      </p:sp>
      <p:pic>
        <p:nvPicPr>
          <p:cNvPr id="3" name="Picture 2" descr="product-dashboard-we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463040"/>
            <a:ext cx="10362895" cy="5920981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6419088"/>
            <a:ext cx="1036289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0">
                <a:solidFill>
                  <a:srgbClr val="666666"/>
                </a:solidFill>
                <a:latin typeface="Calibri"/>
              </a:rPr>
              <a:t>Measure footprint, cut costs, and generate reports—without spreadsheets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486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111111"/>
                </a:solidFill>
                <a:latin typeface="Calibri"/>
              </a:rPr>
              <a:t>What you get (clear benefits)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5840" y="1463040"/>
            <a:ext cx="1060704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>
                <a:solidFill>
                  <a:srgbClr val="222222"/>
                </a:solidFill>
                <a:latin typeface="Calibri"/>
              </a:defRPr>
            </a:pPr>
            <a:r>
              <a:t>Win more customers: share sustainability reports + evidence when asked.</a:t>
            </a:r>
          </a:p>
          <a:p>
            <a:pPr>
              <a:defRPr sz="2200">
                <a:solidFill>
                  <a:srgbClr val="222222"/>
                </a:solidFill>
                <a:latin typeface="Calibri"/>
              </a:defRPr>
            </a:pPr>
            <a:r>
              <a:t>Reduce waste: recommendations prioritized by impact, savings, and payback.</a:t>
            </a:r>
          </a:p>
          <a:p>
            <a:pPr>
              <a:defRPr sz="2200">
                <a:solidFill>
                  <a:srgbClr val="222222"/>
                </a:solidFill>
                <a:latin typeface="Calibri"/>
              </a:defRPr>
            </a:pPr>
            <a:r>
              <a:t>Get audit-ready faster: organize bills/invoices with a clean evidence trail.</a:t>
            </a:r>
          </a:p>
          <a:p>
            <a:pPr>
              <a:defRPr sz="2200">
                <a:solidFill>
                  <a:srgbClr val="222222"/>
                </a:solidFill>
                <a:latin typeface="Calibri"/>
              </a:defRPr>
            </a:pPr>
            <a:r>
              <a:t>Access green finance: convert performance into eligibility and better pricing.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8A0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8288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Calibri"/>
              </a:rPr>
              <a:t>How it works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15544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0">
                <a:solidFill>
                  <a:srgbClr val="222222"/>
                </a:solidFill>
                <a:latin typeface="Calibri"/>
              </a:rPr>
              <a:t>A simple 4-step flow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486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111111"/>
                </a:solidFill>
                <a:latin typeface="Calibri"/>
              </a:rPr>
              <a:t>1) Guided carbon assessment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1463040"/>
            <a:ext cx="512064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222222"/>
                </a:solidFill>
                <a:latin typeface="Calibri"/>
              </a:defRPr>
            </a:pPr>
            <a:r>
              <a:t>Answer a short step-by-step questionnaire across energy, transport, materials, water/waste, and processes.</a:t>
            </a:r>
          </a:p>
          <a:p>
            <a:pPr>
              <a:defRPr sz="2000">
                <a:solidFill>
                  <a:srgbClr val="222222"/>
                </a:solidFill>
                <a:latin typeface="Calibri"/>
              </a:defRPr>
            </a:pPr>
            <a:r>
              <a:t>Receive total CO₂, category split, scopes (1/2/3), and a carbon score.</a:t>
            </a:r>
          </a:p>
        </p:txBody>
      </p:sp>
      <p:pic>
        <p:nvPicPr>
          <p:cNvPr id="4" name="Picture 3" descr="product-carbon-assessm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600200"/>
            <a:ext cx="5577840" cy="318697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486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111111"/>
                </a:solidFill>
                <a:latin typeface="Calibri"/>
              </a:rPr>
              <a:t>2) Recommendations with ROI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1463040"/>
            <a:ext cx="512064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222222"/>
                </a:solidFill>
                <a:latin typeface="Calibri"/>
              </a:defRPr>
            </a:pPr>
            <a:r>
              <a:t>Not generic tips: each action includes priority, estimated savings (₹), payback (months), and CO₂ reduction.</a:t>
            </a:r>
          </a:p>
          <a:p>
            <a:pPr>
              <a:defRPr sz="2000">
                <a:solidFill>
                  <a:srgbClr val="222222"/>
                </a:solidFill>
                <a:latin typeface="Calibri"/>
              </a:defRPr>
            </a:pPr>
            <a:r>
              <a:t>Pick quick wins first, plan upgrades next (solar, efficiency, process improvements).</a:t>
            </a:r>
          </a:p>
        </p:txBody>
      </p:sp>
      <p:pic>
        <p:nvPicPr>
          <p:cNvPr id="4" name="Picture 3" descr="product-report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600200"/>
            <a:ext cx="5577840" cy="318697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217920" y="6419088"/>
            <a:ext cx="55778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0">
                <a:solidFill>
                  <a:srgbClr val="666666"/>
                </a:solidFill>
                <a:latin typeface="Calibri"/>
              </a:rPr>
              <a:t>Track actions and results in reporting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486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111111"/>
                </a:solidFill>
                <a:latin typeface="Calibri"/>
              </a:rPr>
              <a:t>3) Keep documents report-ready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1463040"/>
            <a:ext cx="512064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222222"/>
                </a:solidFill>
                <a:latin typeface="Calibri"/>
              </a:defRPr>
            </a:pPr>
            <a:r>
              <a:t>Upload bills/invoices once; auto-extract key fields and compute carbon signals.</a:t>
            </a:r>
          </a:p>
          <a:p>
            <a:pPr>
              <a:defRPr sz="2000">
                <a:solidFill>
                  <a:srgbClr val="222222"/>
                </a:solidFill>
                <a:latin typeface="Calibri"/>
              </a:defRPr>
            </a:pPr>
            <a:r>
              <a:t>Detect duplicates to reduce errors and create an audit-friendly evidence pack.</a:t>
            </a:r>
          </a:p>
          <a:p>
            <a:pPr>
              <a:defRPr sz="2000">
                <a:solidFill>
                  <a:srgbClr val="222222"/>
                </a:solidFill>
                <a:latin typeface="Calibri"/>
              </a:defRPr>
            </a:pPr>
            <a:r>
              <a:t>Stop hunting for files when customers or auditors request proof.</a:t>
            </a:r>
          </a:p>
        </p:txBody>
      </p:sp>
      <p:pic>
        <p:nvPicPr>
          <p:cNvPr id="4" name="Picture 3" descr="product-document-managem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600200"/>
            <a:ext cx="5577840" cy="318697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486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111111"/>
                </a:solidFill>
                <a:latin typeface="Calibri"/>
              </a:rPr>
              <a:t>4) Generate reports you can share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1463040"/>
            <a:ext cx="512064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222222"/>
                </a:solidFill>
                <a:latin typeface="Calibri"/>
              </a:defRPr>
            </a:pPr>
            <a:r>
              <a:t>Export reports for customers, internal reviews, tenders, and compliance.</a:t>
            </a:r>
          </a:p>
          <a:p>
            <a:pPr>
              <a:defRPr sz="2000">
                <a:solidFill>
                  <a:srgbClr val="222222"/>
                </a:solidFill>
                <a:latin typeface="Calibri"/>
              </a:defRPr>
            </a:pPr>
            <a:r>
              <a:t>Show progress over time: footprint trend + actions implemented.</a:t>
            </a:r>
          </a:p>
        </p:txBody>
      </p:sp>
      <p:pic>
        <p:nvPicPr>
          <p:cNvPr id="4" name="Picture 3" descr="product-report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600200"/>
            <a:ext cx="5577840" cy="318697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8A0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8288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Calibri"/>
              </a:rPr>
              <a:t>Green finance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15544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0">
                <a:solidFill>
                  <a:srgbClr val="222222"/>
                </a:solidFill>
                <a:latin typeface="Calibri"/>
              </a:rPr>
              <a:t>Convert sustainability into capital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486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111111"/>
                </a:solidFill>
                <a:latin typeface="Calibri"/>
              </a:rPr>
              <a:t>Green loan enablement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1463040"/>
            <a:ext cx="512064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222222"/>
                </a:solidFill>
                <a:latin typeface="Calibri"/>
              </a:defRPr>
            </a:pPr>
            <a:r>
              <a:t>Plan a reduction project (solar, machinery upgrade, waste systems).</a:t>
            </a:r>
          </a:p>
          <a:p>
            <a:pPr>
              <a:defRPr sz="2000">
                <a:solidFill>
                  <a:srgbClr val="222222"/>
                </a:solidFill>
                <a:latin typeface="Calibri"/>
              </a:defRPr>
            </a:pPr>
            <a:r>
              <a:t>Check eligibility up front and see transparent terms.</a:t>
            </a:r>
          </a:p>
          <a:p>
            <a:pPr>
              <a:defRPr sz="2000">
                <a:solidFill>
                  <a:srgbClr val="222222"/>
                </a:solidFill>
                <a:latin typeface="Calibri"/>
              </a:defRPr>
            </a:pPr>
            <a:r>
              <a:t>Submit a cleaner application using verified activity + plan data.</a:t>
            </a:r>
          </a:p>
        </p:txBody>
      </p:sp>
      <p:pic>
        <p:nvPicPr>
          <p:cNvPr id="4" name="Picture 3" descr="product-green-loa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600200"/>
            <a:ext cx="5577840" cy="3186975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486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111111"/>
                </a:solidFill>
                <a:latin typeface="Calibri"/>
              </a:rPr>
              <a:t>MSME ROI framing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5840" y="1463040"/>
            <a:ext cx="1060704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>
                <a:solidFill>
                  <a:srgbClr val="222222"/>
                </a:solidFill>
                <a:latin typeface="Calibri"/>
              </a:defRPr>
            </a:pPr>
            <a:r>
              <a:t>Time saved: less manual reporting and document hunting.</a:t>
            </a:r>
          </a:p>
          <a:p>
            <a:pPr>
              <a:defRPr sz="2200">
                <a:solidFill>
                  <a:srgbClr val="222222"/>
                </a:solidFill>
                <a:latin typeface="Calibri"/>
              </a:defRPr>
            </a:pPr>
            <a:r>
              <a:t>Cost savings: energy/fuel/process improvements with clear payback.</a:t>
            </a:r>
          </a:p>
          <a:p>
            <a:pPr>
              <a:defRPr sz="2200">
                <a:solidFill>
                  <a:srgbClr val="222222"/>
                </a:solidFill>
                <a:latin typeface="Calibri"/>
              </a:defRPr>
            </a:pPr>
            <a:r>
              <a:t>Revenue enablement: meet buyer requirements and improve trust.</a:t>
            </a:r>
          </a:p>
          <a:p>
            <a:pPr>
              <a:defRPr sz="2200">
                <a:solidFill>
                  <a:srgbClr val="222222"/>
                </a:solidFill>
                <a:latin typeface="Calibri"/>
              </a:defRPr>
            </a:pPr>
            <a:r>
              <a:t>Better financing access: qualify for green loans and incentives.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486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111111"/>
                </a:solidFill>
                <a:latin typeface="Calibri"/>
              </a:rPr>
              <a:t>Next steps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5840" y="1463040"/>
            <a:ext cx="1060704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>
                <a:solidFill>
                  <a:srgbClr val="222222"/>
                </a:solidFill>
                <a:latin typeface="Calibri"/>
              </a:defRPr>
            </a:pPr>
            <a:r>
              <a:t>Pick your sector and baseline period (last 3–12 months).</a:t>
            </a:r>
          </a:p>
          <a:p>
            <a:pPr>
              <a:defRPr sz="2200">
                <a:solidFill>
                  <a:srgbClr val="222222"/>
                </a:solidFill>
                <a:latin typeface="Calibri"/>
              </a:defRPr>
            </a:pPr>
            <a:r>
              <a:t>Upload your latest bills/invoices and complete the assessment.</a:t>
            </a:r>
          </a:p>
          <a:p>
            <a:pPr>
              <a:defRPr sz="2200">
                <a:solidFill>
                  <a:srgbClr val="222222"/>
                </a:solidFill>
                <a:latin typeface="Calibri"/>
              </a:defRPr>
            </a:pPr>
            <a:r>
              <a:t>Review prioritized actions and export your first customer-ready report.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