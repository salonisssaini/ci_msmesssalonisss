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Carbon Intelligence for Green Finance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Revolutionary AI-Powered Risk Assessment &amp; Green Loan Solutions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Transform MSME Sustainability into Profitable Banking Opportunities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Presented to: Financial Institutions | 2024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9144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914400"/>
            <a:ext cx="457200" cy="457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800" y="548640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Banking Dashboard - Carbon Intelligence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🏦 INTEGRATED BANKING DASHBOARD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loan portfolio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Intelligence scoring integration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risk assessment alerts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Green loan performance analytics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MSME sustainability tracking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DASHBOARD METRICS: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Total Green Loans: ₹2,450 crores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Active MSMEs: 1,247 customers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Average Carbon Score: 78.5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Default Rate: 2.3% (vs 4.1% standard)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AUTOMATED WORKFLOWS: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Instant loan eligibility assessment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carbon score updates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approval recommendations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Risk monitoring and alerts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ESG compliance tracking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BENEFITS FOR BANKS: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60% faster loan processing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45% reduction in default rates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portfolio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compliance reporting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Enhanced customer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3200400" cy="3657600"/>
          </a:xfrm>
          <a:prstGeom prst="rect">
            <a:avLst/>
          </a:prstGeom>
          <a:solidFill>
            <a:srgbClr val="F0F0F0"/>
          </a:solidFill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1828800"/>
            <a:ext cx="3200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19202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Carbon Intelligence Banking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2468880"/>
            <a:ext cx="1371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25603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Total Green Loans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₹2,450 Cr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2468880"/>
            <a:ext cx="1371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Active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1,247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3291840"/>
            <a:ext cx="1371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3832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Avg Carbon Score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78.5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91840"/>
            <a:ext cx="1371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3832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Default Rate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1148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Recent Loan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3891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EcoTech Manufacturing - ₹50L - Score: 85 - Approved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7548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GreenTextile Ltd - ₹25L - Score: 78 - Under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Carbon Intelligence Scoring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🧠 CARBON INTELLIGENCE SCORING INTERFACE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REAL-TIME SCORING: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Live carbon footprint assessment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AI-powered transaction analysis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data collection from SMS/Email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Continuous monitoring and updates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Predictive analytics for future performance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SCORING METHODOLOGY (0-100):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Energy Efficiency (25%): Renewable energy usage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Water Management (20%): Conservation practices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Waste Management (20%): Circular economy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Transportation (15%): Green logistics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Materials &amp; Supply Chain (10%): Sustainable sourcing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ESG Compliance (10%): Regulatory adherence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BANKING INTEGRATION: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Automatic loan eligibility assessment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Dynamic interest rate calculation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Risk scoring and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Compliance reporting automation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Portfolio performance tracking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85% accuracy in sustainability prediction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40% reduction in manual assessment time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risk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compliance reporting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Industry benchmarking and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3200400" cy="3657600"/>
          </a:xfrm>
          <a:prstGeom prst="rect">
            <a:avLst/>
          </a:prstGeom>
          <a:solidFill>
            <a:srgbClr val="FAFAFA"/>
          </a:solidFill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1828800"/>
            <a:ext cx="32004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19202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EcoTech Manufacturing Pvt Ltd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2560320"/>
            <a:ext cx="1463040" cy="146304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92608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85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411480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SCORE BREAKDOWN: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Energy Efficiency: 22/25 (88%)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Water Management: 16/20 (80%)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Waste Management: 18/20 (90%)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Transportation: 12/15 (80%)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Materials: 8/10 (80%)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ESG Compliance: 9/10 (90%)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Automated Loan Approval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⚡ AUTOMATED LOAN APPROVAL WORKFLOW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WORKFLOW STEPS: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1. Application Received - MSME submits loan application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2. Carbon Score Analysis - AI analyzes sustainability metrics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3. Risk Assessment - Automated risk scoring and evaluation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4. Auto Approval Decision - Instant approval based on carbon score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5. Loan Disbursement - Automated fund transfer and documentation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AUTOMATION FEATURES: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carbon score integration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AI-powered risk assessment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document verification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Instant approval for high scores (80+)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Dynamic interest rate calculation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PROCESSING TIME: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Standard Process: 7-14 days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Intelligence: 24-48 hours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High Score (80+): Instant approval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Medium Score (60-79): 24 hours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Low Score (&lt;60): Manual review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60% faster loan processing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40% reduction in manual work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Consistent decision making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Reduced human error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Enhanced customer experience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SCORING-BASED APPROVAL: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90-100: Instant approval, 3% rate reduction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80-89: Fast track, 2% rate reduction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70-79: Standard processing, 1% rate reduction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60-69: Basic processing, 0.5% rate reduction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&lt;60: Manual review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3200400" cy="3657600"/>
          </a:xfrm>
          <a:prstGeom prst="rect">
            <a:avLst/>
          </a:prstGeom>
          <a:solidFill>
            <a:srgbClr val="F8F9FA"/>
          </a:solidFill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0" y="2103120"/>
            <a:ext cx="1097280" cy="1097280"/>
          </a:xfrm>
          <a:prstGeom prst="rect">
            <a:avLst/>
          </a:prstGeom>
          <a:solidFill>
            <a:srgbClr val="2E7D32"/>
          </a:solidFill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3774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Application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Received</a:t>
            </a:r>
          </a:p>
        </p:txBody>
      </p:sp>
      <p:sp>
        <p:nvSpPr>
          <p:cNvPr id="7" name="Oval 6"/>
          <p:cNvSpPr/>
          <p:nvPr/>
        </p:nvSpPr>
        <p:spPr>
          <a:xfrm>
            <a:off x="6035040" y="19202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965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103120"/>
            <a:ext cx="1097280" cy="1097280"/>
          </a:xfrm>
          <a:prstGeom prst="rect">
            <a:avLst/>
          </a:prstGeom>
          <a:solidFill>
            <a:srgbClr val="FF6F00"/>
          </a:solidFill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3774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Carbon Score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7223760" y="19202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965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103120"/>
            <a:ext cx="1097280" cy="1097280"/>
          </a:xfrm>
          <a:prstGeom prst="rect">
            <a:avLst/>
          </a:prstGeom>
          <a:solidFill>
            <a:srgbClr val="1976D2"/>
          </a:solidFill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3774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Risk Assessment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0" y="19202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65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3474720"/>
            <a:ext cx="1097280" cy="1097280"/>
          </a:xfrm>
          <a:prstGeom prst="rect">
            <a:avLst/>
          </a:prstGeom>
          <a:solidFill>
            <a:srgbClr val="4CAF50"/>
          </a:solidFill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3749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Auto Approval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0" y="32918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337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474720"/>
            <a:ext cx="1097280" cy="1097280"/>
          </a:xfrm>
          <a:prstGeom prst="rect">
            <a:avLst/>
          </a:prstGeom>
          <a:solidFill>
            <a:srgbClr val="2E7D32"/>
          </a:solidFill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749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Loan Disbursement</a:t>
            </a:r>
          </a:p>
        </p:txBody>
      </p:sp>
      <p:sp>
        <p:nvSpPr>
          <p:cNvPr id="23" name="Oval 22"/>
          <p:cNvSpPr/>
          <p:nvPr/>
        </p:nvSpPr>
        <p:spPr>
          <a:xfrm>
            <a:off x="7223760" y="32918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3337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5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766560" y="2651760"/>
            <a:ext cx="18288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955279" y="2651760"/>
            <a:ext cx="18288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6858000" y="3200400"/>
            <a:ext cx="18288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6766560" y="4023360"/>
            <a:ext cx="18288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Risk Assessment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🛡️ ADVANCED RISK ASSESSMENT DASHBOARD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RISK SCORING MATRIX: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Score (40%): Primary sustainability indicator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Financial Health (30%): Traditional financial metrics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Industry Risk (15%): Sector-specific regulations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Management Quality (10%): Leadership commitment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Market Position (5%): Competitive advantage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PREDICTIVE ANALYTICS: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Machine learning risk modeling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Historical data analysis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Trend prediction algorithms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Early warning systems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risk monitoring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RISK MITIGATION: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score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alerts and notifications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Proactive intervention programs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Sustainability improvement plans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Regular portfolio reviews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PROVEN RESULTS: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45% lower default rate for high carbon scores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60% faster risk identification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35% reduction in loan loss provisions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50% improvement in portfolio quality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85% accuracy in risk prediction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COMPLIANCE FEATURES: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ESG reporting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Regulatory compliance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Audit trail maintenance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Industry benchmark comparison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Risk documentation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3200400" cy="3657600"/>
          </a:xfrm>
          <a:prstGeom prst="rect">
            <a:avLst/>
          </a:prstGeom>
          <a:solidFill>
            <a:srgbClr val="F5F5F5"/>
          </a:solidFill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77840" y="2103120"/>
            <a:ext cx="137160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21945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Carbon Score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40%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85/100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103120"/>
            <a:ext cx="1371600" cy="1097280"/>
          </a:xfrm>
          <a:prstGeom prst="rect">
            <a:avLst/>
          </a:prstGeom>
          <a:solidFill>
            <a:srgbClr val="1976D2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1945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Financial Health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30%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Good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3291840"/>
            <a:ext cx="1371600" cy="1097280"/>
          </a:xfrm>
          <a:prstGeom prst="rect">
            <a:avLst/>
          </a:prstGeom>
          <a:solidFill>
            <a:srgbClr val="FF6F00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338328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Industry Risk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15%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Medium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3291840"/>
            <a:ext cx="1371600" cy="1097280"/>
          </a:xfrm>
          <a:prstGeom prst="rect">
            <a:avLst/>
          </a:prstGeom>
          <a:solidFill>
            <a:srgbClr val="4CAF50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38328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Management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10%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Excellent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4480560"/>
            <a:ext cx="146304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8463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LOW RISK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Score: 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Carbon Trading Platform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🌍 CARBON TRADING PLATFORM INTERFACE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PLATFORM FEATURES: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carbon credit marketplace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Verified project portfolio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trading and settlement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Portfolio tracking and analytics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Price monitoring and alerts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CARBON CREDIT TYPES: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Renewable Energy Projects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Reforestation &amp; Afforestation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Energy Efficiency Initiatives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Waste Management Projects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Transportation Efficiency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TRADING CAPABILITIES: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Buy/Sell carbon credits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Portfolio management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offset purchasing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Price alerts and notifications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Transaction history tracking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BANKING INTEGRATION: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credit-backed loans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Offset portfolio financing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Trading commission revenue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Advisory services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Market making services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FINANCIAL BENEFITS: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Additional revenue stream for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credit financing options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Cost-effective emission offsets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Enhanced sustainability credentials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Working capital opportunities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REGULATORY COMPLIANCE: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VCS (Verified Carbon Standard)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Gold Standard certification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CDM project support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Local carbon market compliance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International trading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3200400" cy="3657600"/>
          </a:xfrm>
          <a:prstGeom prst="rect">
            <a:avLst/>
          </a:prstGeom>
          <a:solidFill>
            <a:srgbClr val="FAFAFA"/>
          </a:solidFill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1828800"/>
            <a:ext cx="32004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19202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Carbon Credit Trading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237744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24688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PORTFOLIO SUMMARY: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Total Credits: 1,250 tons CO2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Available: 850 tons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Used: 400 tons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Value: ₹2,50,000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3832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Available Carbon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3657600"/>
            <a:ext cx="301752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374903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Solar Energy Project - 500 tons - ₹200/ton -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4297680"/>
            <a:ext cx="301752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43891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Reforestation Project - 300 tons - ₹180/ton - Gold Standard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Mobile App Interface for Bankers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📱 MOBILE APP INTERFACE FOR BANKERS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portfolio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Instant loan approval decisions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score tracking and alerts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Risk assessment on-the-go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trading platform access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MOBILE DASHBOARD: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Active loan portfolio overview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Average carbon score tracking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Risk alerts and notifications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Quick action buttons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Performance metrics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QUICK ACTIONS: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New Loan Application - Instant processing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Reports - Generate sustainability reports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Alerts - Risk monitoring and notifications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Trading - Carbon credit marketplace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BENEFITS FOR BANKERS: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24/7 portfolio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Instant decision making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risk alerts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Mobile-first user experience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Offline capability for key features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INTEGRATION FEATURES: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Core banking system sync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data updates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Push notifications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Biometric authentication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Secure data transmission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PERFORMANCE METRICS: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60% faster loan processing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40% reduction in manual work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85% accuracy in risk assessment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24/7 availability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99.9% uptime guarantee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1828800" cy="3200400"/>
          </a:xfrm>
          <a:prstGeom prst="rect">
            <a:avLst/>
          </a:prstGeom>
          <a:solidFill>
            <a:srgbClr val="323232"/>
          </a:solidFill>
          <a:ln w="381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77840" y="2011680"/>
            <a:ext cx="164592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7840" y="2011680"/>
            <a:ext cx="164592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21031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Carbon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2468880"/>
            <a:ext cx="146304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2560320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Active Loans: 1,247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926080"/>
            <a:ext cx="146304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3017520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Avg Score: 78.5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4747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Quick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657600"/>
            <a:ext cx="640080" cy="2743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37033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New Loan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657600"/>
            <a:ext cx="640080" cy="274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7033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4023360"/>
            <a:ext cx="640080" cy="274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0690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023360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0690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Trading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ROI &amp; 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💰 COMPREHENSIVE FINANCIAL BENEFITS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ROI PROJECTIONS: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Year 1: 20-25% ROI with pilot program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Year 2: 35-45% ROI with full rollout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Year 3: 50-65% ROI with market expansion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Break-even: 6-9 months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Payback period: 12-18 months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REVENUE OPPORTUNITIES (3-Year Projection):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Green Loan Origination: ₹500-800 crores annually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Interest Rate Premium: 1-3% on green loans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Trading Commissions: ₹50-100 crores annually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Sustainability Advisory: ₹25-50 crores annually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Platform Subscription Fees: ₹10-20 crores annually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COST SAVINGS: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50% reduction in manual ESG assessment costs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60% faster loan processing and approval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40% reduction in default rates and provisions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30% improvement in operational efficiency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25% reduction in compliance and reporting costs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RISK REDUCTION BENEFITS: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45% lower default rate for green loan portfolio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60% faster identification of at-risk accounts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35% reduction in loan loss provisions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50% improvement in portfolio quality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40% reduction in regulatory compliance costs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MARKET EXPANSION: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25-40% increase in MSME loan portfolio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30-50% growth in green finance market share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20-30% improvement in customer retention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15-25% increase in average loan size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10-20% premium on interest 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971800"/>
            <a:ext cx="731520" cy="1143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0" y="4389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6974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286000"/>
            <a:ext cx="731520" cy="1828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389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371600"/>
            <a:ext cx="731520" cy="2743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4389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Year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0972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60%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🚀 PHASED IMPLEMENTATION PLAN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PHASE 1: FOUNDATION (Months 1-3)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Intelligence platform integration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API development and testing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Staff training and certification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Pilot customer selection (100 MSMEs)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Regulatory compliance review and approval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PHASE 2: PILOT PROGRAM (Months 4-9)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Launch with 100 selected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Green loan product testing and optimization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trading platform integration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Performance monitoring and analytics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Feedback collection and system refinement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PHASE 3: FULL ROLLOUT (Months 10-18)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Scale to 1,000+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Complete product suite launch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Advanced analytics and AI features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Marketing and customer acquisition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Performance optimization and scaling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PHASE 4: EXPANSION (Months 19-24)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Scale to 5,000+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Advanced AI features and automation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trading marketplace expansion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International market entry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Innovation and R&amp;D initiatives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SUCCESS METRICS: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Customer acquisition rate and retention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Loan portfolio growth and quality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Revenue per customer and profitability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Platform adoption and engagement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Customer satisfaction and NPS scores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SUPPORT &amp; TRAINING: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Dedicated implementation team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24/7 technical support and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Regular training and certification programs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Comprehensive documentation and resources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Continuous optimization and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1188720" cy="1371600"/>
          </a:xfrm>
          <a:prstGeom prst="rect">
            <a:avLst/>
          </a:prstGeom>
          <a:solidFill>
            <a:srgbClr val="2E7D3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201168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Phase 1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Foundation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(1-3 months)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828800"/>
            <a:ext cx="1188720" cy="1371600"/>
          </a:xfrm>
          <a:prstGeom prst="rect">
            <a:avLst/>
          </a:prstGeom>
          <a:solidFill>
            <a:srgbClr val="FF6F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01168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Phase 2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Pilot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(4-9 months)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828800"/>
            <a:ext cx="1188720" cy="1371600"/>
          </a:xfrm>
          <a:prstGeom prst="rect">
            <a:avLst/>
          </a:prstGeom>
          <a:solidFill>
            <a:srgbClr val="1976D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Phase 3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Rollout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(10-18 months)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828800"/>
            <a:ext cx="1188720" cy="1371600"/>
          </a:xfrm>
          <a:prstGeom prst="rect">
            <a:avLst/>
          </a:prstGeom>
          <a:solidFill>
            <a:srgbClr val="4CAF5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201168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Phase 4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Expansion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(19-24 months)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675120" y="2514600"/>
            <a:ext cx="18288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046720" y="2514600"/>
            <a:ext cx="18288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418320" y="2514600"/>
            <a:ext cx="18288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Call to Action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🎯 IMMEDIATE ACTION ITEMS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1. PARTNERSHIP AGREEMENT: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Review partnership terms and conditions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Finalize revenue sharing model (70% Bank, 30% Carbon Intelligence)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Sign memorandum of understanding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Establish governance structure and committees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2. TECHNICAL INTEGRATION: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Schedule technical assessment and planning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Plan API integration timeline and milestones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Design custom features and white-label branding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Set up development and testing environment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3. PILOT PROGRAM SETUP: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Select pilot MSME customers (100-200)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Train banking staff on Carbon Intelligence platform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Launch pilot program with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Collect feedback and optimize performance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4. MARKETING &amp; LAUNCH: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Develop co-marketing strategy and materials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Create customer acquisition and retention plan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Launch green finance products and services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Execute go-to-market strategy and campaigns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TIMELINE: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Week 1-2: Partnership agreement finalization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Week 3-4: Technical integration planning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Month 2-3: Platform customization and testing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Month 4-6: Pilot program execution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Month 7-12: Full rollout and scaling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CONTACT INFORMATION: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Email: partnerships@carbonintelligence.com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Phone: +91-98765-43210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Website: www.carbonintelligence.com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LinkedIn: Carbon Intelligence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READY TO REVOLUTIONIZE GREEN FINANCE?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Let's discuss how Carbon Intelligence can transform your MSME lending business and unlock new opportunities in sustainable finance.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Schedule a detailed discussion today!</a:t>
            </a:r>
          </a:p>
        </p:txBody>
      </p:sp>
      <p:sp>
        <p:nvSpPr>
          <p:cNvPr id="4" name="Oval 3"/>
          <p:cNvSpPr/>
          <p:nvPr/>
        </p:nvSpPr>
        <p:spPr>
          <a:xfrm>
            <a:off x="5486400" y="182880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Partnership Agreement</a:t>
            </a:r>
          </a:p>
        </p:txBody>
      </p:sp>
      <p:sp>
        <p:nvSpPr>
          <p:cNvPr id="6" name="Oval 5"/>
          <p:cNvSpPr/>
          <p:nvPr/>
        </p:nvSpPr>
        <p:spPr>
          <a:xfrm>
            <a:off x="5486400" y="23774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2377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Technical Integration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2926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926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Pilot Program Setup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3474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Marketing &amp;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