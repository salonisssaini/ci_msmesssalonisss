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Intelligence for Green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Revolutionary AI-Powered Risk Assessment &amp; Green Loan Solutions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Transform MSME Sustainability into Profitable Banking Opportunities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Presented to: Financial Institutions | 2024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9144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914400"/>
            <a:ext cx="457200" cy="457200"/>
          </a:xfrm>
          <a:prstGeom prst="ellipse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5486400"/>
            <a:ext cx="457200" cy="457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The Green Finance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🌍 MASSIVE MARKET OPPORTUNITY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$2.5+ Trillion green finance market by 2025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63 Million MSMEs in India seeking green solutions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of MSMEs actively seeking green finance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Growing regulatory pressure for ESG compliance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💰 FINANCIAL BENEFITS FOR BANKS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25-40% increase in MSME loan portfolio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30-50% reduction in credit risk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New revenue streams through green finance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Premium interest rates with lower default risk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📊 REGULATORY DRIVERS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RBI's green finance guidelines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BRSR compliance requirements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Net-zero 2070 commitment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ESG reporting mandates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🎯 FIRST-MOVER ADVANTAGE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Limited competition in MSME green finance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AI-powered risk assessment technology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Comprehensive sustainability platform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Integrated carbon trading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3657600"/>
            <a:ext cx="45720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3200400"/>
            <a:ext cx="457200" cy="13716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2743200"/>
            <a:ext cx="457200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$2.5T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63M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Intelligence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🧠 AI-POWERED CARBON INTELLIGENCE SCORING (0-100)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SCORING METHODOLOGY: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Energy Efficiency (25%): Renewable energy, consumption patterns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Water Management (20%): Conservation, recycling, efficiency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Waste Management (20%): Reduction, recycling, circular economy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Transportation (15%): Green transport, logistics optimization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Materials &amp; Supply Chain (10%): Sustainable sourcing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ESG Compliance (10%): Regulatory compliance, reporting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REAL-TIME MONITORING: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Continuous data collection from SMS, emails, IoT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AI-powered transaction analysis and categorization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carbon footprint calculation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Predictive analytics for future performance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RISK ASSESSMENT INTEGRATION: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 directly correlates with credit risk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Higher scores = Lower default probability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85% accuracy in predicting sustainability performance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Early warning system for environmental risks</a:t>
            </a:r>
          </a:p>
        </p:txBody>
      </p:sp>
      <p:sp>
        <p:nvSpPr>
          <p:cNvPr id="4" name="Pie 3"/>
          <p:cNvSpPr/>
          <p:nvPr/>
        </p:nvSpPr>
        <p:spPr>
          <a:xfrm>
            <a:off x="5486400" y="1828800"/>
            <a:ext cx="2743200" cy="2743200"/>
          </a:xfrm>
          <a:prstGeom prst="pie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274320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3017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Green Loan Products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🏦 INNOVATIVE GREEN LOAN PRODUCTS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CARBON INTELLIGENCE GREEN LOANS: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Interest Rate: 1-3% below standard rates based on 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Loan Amount: Up to ₹5 crores for high-scoring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Processing Time: 24-48 hours (vs 7-14 days standard)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Collateral: Reduced requirements for high carbon scores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Tenure: Extended repayment periods for green investments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SPECIALIZED PRODUCTS: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Solar Energy Loans: Up to ₹2 crores at 8-10% interest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Energy Efficiency Loans: Equipment financing at 9-11%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Water Conservation Loans: Infrastructure at 10-12%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Waste Management Loans: Technology at 11-13%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 Financing: Working capital for carbon projects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ADDITIONAL 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Free sustainability consulting and reporting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 trading platform access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ESG compliance support and documentation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 benchmarking and improvement recommendations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Priority customer support and relationship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828800" cy="731520"/>
          </a:xfrm>
          <a:prstGeom prst="rect">
            <a:avLst/>
          </a:prstGeom>
          <a:solidFill>
            <a:srgbClr val="C0C0C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PLATINUM (90-100)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3% Rate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1828800" cy="731520"/>
          </a:xfrm>
          <a:prstGeom prst="rect">
            <a:avLst/>
          </a:prstGeom>
          <a:solidFill>
            <a:srgbClr val="FFD700"/>
          </a:solidFill>
          <a:ln w="2540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29260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GOLD (80-89)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2% Rate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3657600"/>
            <a:ext cx="1828800" cy="731520"/>
          </a:xfrm>
          <a:prstGeom prst="rect">
            <a:avLst/>
          </a:prstGeom>
          <a:solidFill>
            <a:srgbClr val="C0C0C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38404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SILVER (70-79)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1% Rate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Advanced Risk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🛡️ CARBON INTELLIGENCE RISK ASSESSMENT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RISK SCORING MATRIX: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 (40%): Primary sustainability performance indicator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Financial Health (30%): Traditional financial metrics and ratios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 Risk (15%): Sector-specific environmental regulations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Management Quality (10%): Leadership commitment to sustainability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Market Position (5%): Competitive advantage in green practices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PREDICTIVE RISK MODELING: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Machine learning algorithms analyze historical data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Predict default probability based on carbon trends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Early warning system for sustainability risks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risk monitoring and alerts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PROVEN RISK REDUCTION: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45% lower default rate for high carbon score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identification of at-risk accounts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35% reduction in loan loss provisions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50% improvement in portfolio quality metrics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COMPLIANCE &amp; REGULATORY: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ESG reporting and documentation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Regulatory compliance monitoring and alerts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Audit trail maintenance and reporting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 benchmark comparison and analysis</a:t>
            </a:r>
          </a:p>
        </p:txBody>
      </p:sp>
      <p:sp>
        <p:nvSpPr>
          <p:cNvPr id="4" name="Pie 3"/>
          <p:cNvSpPr/>
          <p:nvPr/>
        </p:nvSpPr>
        <p:spPr>
          <a:xfrm>
            <a:off x="5486400" y="1828800"/>
            <a:ext cx="2743200" cy="2743200"/>
          </a:xfrm>
          <a:prstGeom prst="pie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743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Financial Health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754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Industry Risk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Market Position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Trading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🌍 INTEGRATED CARBON TRADING PLATFORM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CARBON CREDIT MARKETPLACE: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Verified carbon credits from certified projects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Real-time pricing and market data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Automated offset purchasing and 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Portfolio tracking and performance analytics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REVENUE OPPORTUNITIES (3-Year Projection):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Green Loan Origination: ₹500-800 crores annually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Interest Rate Premium: 1-3% on green loans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Commissions: ₹50-100 crores annually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Sustainability Advisory: ₹25-50 crores annually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Platform Subscription Fees: ₹10-20 crores annually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BANKING INTEGRATION: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credit-backed loans and financing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Offset portfolio management services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 trading commissions (2-5%)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Advisory services for carbon strategies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Market making and liquidity provision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FINANCIAL 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Additional revenue stream for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credit financing and working capital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Offset remaining emissions cost-effectively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Enhanced sustainability credentials and market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188720" cy="914400"/>
          </a:xfrm>
          <a:prstGeom prst="rect">
            <a:avLst/>
          </a:prstGeom>
          <a:solidFill>
            <a:srgbClr val="2E7D3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Green Loans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₹500-800 Cr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828800"/>
            <a:ext cx="1188720" cy="914400"/>
          </a:xfrm>
          <a:prstGeom prst="rect">
            <a:avLst/>
          </a:prstGeom>
          <a:solidFill>
            <a:srgbClr val="FF6F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1031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Carbon Trading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₹50-100 Cr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926080"/>
            <a:ext cx="1188720" cy="914400"/>
          </a:xfrm>
          <a:prstGeom prst="rect">
            <a:avLst/>
          </a:prstGeom>
          <a:solidFill>
            <a:srgbClr val="1976D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32004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Advisory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₹25-50 Cr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926080"/>
            <a:ext cx="1188720" cy="914400"/>
          </a:xfrm>
          <a:prstGeom prst="rect">
            <a:avLst/>
          </a:prstGeom>
          <a:solidFill>
            <a:srgbClr val="4CAF5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2004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Platform Fees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₹10-20 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ROI &amp; 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💰 COMPREHENSIVE FINANCIAL BENEFITS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ROI PROJECTIONS: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Year 1: 20-25% ROI with pilot program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Year 2: 35-45% ROI with full rollout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Year 3: 50-65% ROI with market expansion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Break-even: 6-9 months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Payback period: 12-18 months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COST SAVINGS: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50% reduction in manual ESG assessment costs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loan processing and approval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default rates and provisions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30% improvement in operational efficiency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25% reduction in compliance and reporting costs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RISK REDUCTION BENEFITS: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45% lower default rate for green loan portfolio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60% faster identification of at-risk accounts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35% reduction in loan loss provisions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50% improvement in portfolio quality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reduction in regulatory compliance costs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MARKET EXPANSION: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25-40% increase in MSME loan portfolio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30-50% growth in green finance market share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20-30% improvement in customer retention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15-25% increase in average loan size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10-20% premium on interest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2971800"/>
            <a:ext cx="731520" cy="1143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4389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6974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731520" cy="1828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389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731520" cy="2743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389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Year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097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🚀 PHASED IMPLEMENTATION PLAN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1: FOUNDATION (Months 1-3)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Intelligence platform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API development and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Staff training and certification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Pilot customer selection (100 MSMEs)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Regulatory compliance review and approval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2: PILOT PROGRAM (Months 4-9)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Launch with 100 selected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Green loan product testing and optimization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platform integration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Performance monitoring and analytics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Feedback collection and system refinement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3: FULL ROLLOUT (Months 10-18)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Scale to 1,000+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Complete product suite launch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Advanced analytics and AI features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Marketing and customer acquisition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Performance optimization and scaling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PHASE 4: EXPANSION (Months 19-24)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Scale to 5,000+ MSMEs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Advanced AI features and automation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trading marketplace expansion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International market entry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Innovation and R&amp;D initiatives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SUCCESS METRICS: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acquisition rate and retention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Loan portfolio growth and quality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Revenue per customer and profitability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Platform adoption and engagement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Customer satisfaction and NPS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188720" cy="1371600"/>
          </a:xfrm>
          <a:prstGeom prst="rect">
            <a:avLst/>
          </a:prstGeom>
          <a:solidFill>
            <a:srgbClr val="2E7D3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1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Foundation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(1-3 months)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828800"/>
            <a:ext cx="1188720" cy="1371600"/>
          </a:xfrm>
          <a:prstGeom prst="rect">
            <a:avLst/>
          </a:prstGeom>
          <a:solidFill>
            <a:srgbClr val="FF6F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2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Pilot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(4-9 months)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1188720" cy="1371600"/>
          </a:xfrm>
          <a:prstGeom prst="rect">
            <a:avLst/>
          </a:prstGeom>
          <a:solidFill>
            <a:srgbClr val="1976D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3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Rollout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(10-18 months)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828800"/>
            <a:ext cx="1188720" cy="1371600"/>
          </a:xfrm>
          <a:prstGeom prst="rect">
            <a:avLst/>
          </a:prstGeom>
          <a:solidFill>
            <a:srgbClr val="4CAF5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201168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Phase 4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Expansion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(19-24 months)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75120" y="2514600"/>
            <a:ext cx="18288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046720" y="2514600"/>
            <a:ext cx="18288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418320" y="2514600"/>
            <a:ext cx="18288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📊 PROVEN RESULTS &amp; CASE STUDIES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PILOT PROGRAM RESULTS (6 months):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200 MSMEs onboarded with Carbon Intelligence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35% average carbon footprint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25% increase in loan approval rates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30% reduction in default rates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98% customer satisfaction score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CASE STUDY 1: MANUFACTURING MSME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Company: EcoTech Manufacturing (75 employees)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Industry: Electronics manufacturing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Score: 85 (Gold tier)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Results: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- 40% reduction in energy consumption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₹3.2 lakh annual cost savings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- 50% improvement in ESG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- 2.5% reduction in loan interest rate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₹1.5 lakh annual interest savings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CASE STUDY 2: TEXTILE MSME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Company: GreenTextile Ltd (100 employees)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Industry: Textile manufacturing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Score: 78 (Silver tier)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Results: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- 30% reduction in water usage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₹2.1 lakh annual cost savings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- 45% improvement in sustainability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Access to carbon credit trading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₹75,000 additional revenue from carbon credits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CASE STUDY 3: FOOD PROCESSING MSME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Company: FreshFoods Pvt Ltd (50 employees)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Industry: Food processing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Carbon Score: 72 (Silver tier)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Results: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- 25% reduction in waste generation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₹1.8 lakh annual cost savings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- 35% improvement in carbon score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Enhanced market reputation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- 20% increase in customer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1828800" cy="1371600"/>
          </a:xfrm>
          <a:prstGeom prst="rect">
            <a:avLst/>
          </a:prstGeom>
          <a:solidFill>
            <a:srgbClr val="2E7D3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01168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EcoTech Manufacturing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40% energy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₹3.2L annual savings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2.5% rate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85 Carbon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0" y="1828800"/>
            <a:ext cx="1828800" cy="1371600"/>
          </a:xfrm>
          <a:prstGeom prst="rect">
            <a:avLst/>
          </a:prstGeom>
          <a:solidFill>
            <a:srgbClr val="FF6F0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01168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GreenTextile Ltd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30% water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₹2.1L annual savings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₹75K carbon credits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78 Carbon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3383280"/>
            <a:ext cx="1828800" cy="1371600"/>
          </a:xfrm>
          <a:prstGeom prst="rect">
            <a:avLst/>
          </a:prstGeom>
          <a:solidFill>
            <a:srgbClr val="1976D2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56616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FreshFoods Pvt Ltd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25% waste reduction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₹1.8L annual savings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20% customer growth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72 Carbon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Call to Action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🎯 IMMEDIATE ACTION ITEMS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1. PARTNERSHIP AGREEMENT: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Review partnership terms and conditions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Finalize revenue sharing model (70% Bank, 30% Carbon Intelligence)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Sign memorandum of understanding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Establish governance structure and committees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2. TECHNICAL INTEGRATION: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Schedule technical assessment and planning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Plan API integration timeline and milestones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Design custom features and white-label branding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Set up development and testing environment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3. PILOT PROGRAM SETUP: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Select pilot MSME customers (100-200)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Train banking staff on Carbon Intelligence platform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Launch pilot program with monitoring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Collect feedback and optimize performance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4. MARKETING &amp; LAUNCH: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Develop co-marketing strategy and materials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Create customer acquisition and retention plan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Launch green finance products and services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Execute go-to-market strategy and campaigns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TIMELINE: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Week 1-2: Partnership agreement finalization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Week 3-4: Technical integration planning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Month 2-3: Platform customization and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Month 4-6: Pilot program execution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Month 7-12: Full rollout and scaling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CONTACT INFORMATION: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Email: partnerships@carbonintelligence.com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Phone: +91-98765-43210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Website: www.carbonintelligence.com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LinkedIn: Carbon Intelligence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READY TO REVOLUTIONIZE GREEN FINANCE?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Let's discuss how Carbon Intelligence can transform your MSME lending business and unlock new opportunities in sustainable finance.</a:t>
            </a:r>
          </a:p>
          <a:p/>
          <a:p>
            <a:pPr>
              <a:defRPr sz="1600">
                <a:solidFill>
                  <a:srgbClr val="333333"/>
                </a:solidFill>
              </a:defRPr>
            </a:pPr>
            <a:r>
              <a:t>Schedule a detailed discussion today!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18288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Partnership Agreement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23774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2377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Technical Integration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2926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Pilot Program Setup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34747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Marketing &amp;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