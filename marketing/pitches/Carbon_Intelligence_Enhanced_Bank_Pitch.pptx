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Carbon Intelligence for Green Finance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Revolutionary Risk Assessment &amp; Green Loan Solutions for MSMEs</a:t>
            </a:r>
          </a:p>
          <a:p/>
          <a:p>
            <a:r>
              <a:t>Powered by AI-Driven Carbon Intelligence Scoring</a:t>
            </a:r>
          </a:p>
          <a:p/>
          <a:p>
            <a:r>
              <a:t>Presented to: Financial Institutions</a:t>
            </a:r>
          </a:p>
          <a:p>
            <a:r>
              <a:t>Date: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REVOLUTIONARY GREEN FINANCE OPPORTUNITY</a:t>
            </a:r>
          </a:p>
          <a:p>
            <a:r>
              <a:t>• First AI-powered Carbon Intelligence Scoring system for MSME risk assessment</a:t>
            </a:r>
          </a:p>
          <a:p>
            <a:r>
              <a:t>• Real-time carbon footprint monitoring and ESG compliance tracking</a:t>
            </a:r>
          </a:p>
          <a:p>
            <a:r>
              <a:t>• Access to 63 million MSMEs seeking green finance and sustainability solutions</a:t>
            </a:r>
          </a:p>
          <a:p>
            <a:r>
              <a:t>• New revenue streams through intelligent green lending and carbon trading</a:t>
            </a:r>
          </a:p>
          <a:p/>
          <a:p>
            <a:r>
              <a:t>💰 FINANCIAL BENEFITS</a:t>
            </a:r>
          </a:p>
          <a:p>
            <a:r>
              <a:t>• 25-40% increase in MSME loan portfolio through intelligent green finance</a:t>
            </a:r>
          </a:p>
          <a:p>
            <a:r>
              <a:t>• 30-50% reduction in credit risk through Carbon Intelligence Scoring</a:t>
            </a:r>
          </a:p>
          <a:p>
            <a:r>
              <a:t>• New fee-based revenue from carbon trading and sustainability advisory</a:t>
            </a:r>
          </a:p>
          <a:p>
            <a:r>
              <a:t>• Premium interest rates on green loans with lower default risk</a:t>
            </a:r>
          </a:p>
          <a:p/>
          <a:p>
            <a:r>
              <a:t>🌱 CARBON INTELLIGENCE SCORING</a:t>
            </a:r>
          </a:p>
          <a:p>
            <a:r>
              <a:t>• Real-time carbon footprint assessment (0-100 score)</a:t>
            </a:r>
          </a:p>
          <a:p>
            <a:r>
              <a:t>• Predictive risk modeling based on sustainability metrics</a:t>
            </a:r>
          </a:p>
          <a:p>
            <a:r>
              <a:t>• Automated ESG compliance monitoring and reporting</a:t>
            </a:r>
          </a:p>
          <a:p>
            <a:r>
              <a:t>• Industry benchmarking and peer comparison</a:t>
            </a:r>
          </a:p>
          <a:p/>
          <a:p>
            <a:r>
              <a:t>📊 MARKET POTENTIAL</a:t>
            </a:r>
          </a:p>
          <a:p>
            <a:r>
              <a:t>• $75+ billion green finance market opportunity by 2025</a:t>
            </a:r>
          </a:p>
          <a:p>
            <a:r>
              <a:t>• 40% of MSMEs actively seeking green finance solutions</a:t>
            </a:r>
          </a:p>
          <a:p>
            <a:r>
              <a:t>• Growing regulatory pressure for ESG compliance</a:t>
            </a:r>
          </a:p>
          <a:p>
            <a:r>
              <a:t>• First-mover advantage in AI-powered green lending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Intelligence Scoring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🧠 AI-POWERED CARBON INTELLIGENCE SCORING</a:t>
            </a:r>
          </a:p>
          <a:p/>
          <a:p>
            <a:r>
              <a:t>SCORING METHODOLOGY (0-100 Scale):</a:t>
            </a:r>
          </a:p>
          <a:p>
            <a:r>
              <a:t>• Energy Efficiency (25%): Renewable energy usage, energy consumption patterns</a:t>
            </a:r>
          </a:p>
          <a:p>
            <a:r>
              <a:t>• Water Management (20%): Water conservation, recycling, efficiency measures</a:t>
            </a:r>
          </a:p>
          <a:p>
            <a:r>
              <a:t>• Waste Management (20%): Waste reduction, recycling, circular economy practices</a:t>
            </a:r>
          </a:p>
          <a:p>
            <a:r>
              <a:t>• Transportation (15%): Green transport, logistics optimization, fuel efficiency</a:t>
            </a:r>
          </a:p>
          <a:p>
            <a:r>
              <a:t>• Materials &amp; Supply Chain (10%): Sustainable sourcing, material efficiency</a:t>
            </a:r>
          </a:p>
          <a:p>
            <a:r>
              <a:t>• ESG Compliance (10%): Regulatory compliance, reporting accuracy</a:t>
            </a:r>
          </a:p>
          <a:p/>
          <a:p>
            <a:r>
              <a:t>REAL-TIME MONITORING:</a:t>
            </a:r>
          </a:p>
          <a:p>
            <a:r>
              <a:t>• Continuous data collection from SMS, emails, and IoT devices</a:t>
            </a:r>
          </a:p>
          <a:p>
            <a:r>
              <a:t>• AI-powered transaction analysis and categorization</a:t>
            </a:r>
          </a:p>
          <a:p>
            <a:r>
              <a:t>• Automated carbon footprint calculation and tracking</a:t>
            </a:r>
          </a:p>
          <a:p>
            <a:r>
              <a:t>• Predictive analytics for future performance</a:t>
            </a:r>
          </a:p>
          <a:p/>
          <a:p>
            <a:r>
              <a:t>RISK ASSESSMENT INTEGRATION:</a:t>
            </a:r>
          </a:p>
          <a:p>
            <a:r>
              <a:t>• Carbon score directly correlates with credit risk</a:t>
            </a:r>
          </a:p>
          <a:p>
            <a:r>
              <a:t>• Higher scores = Lower default probability</a:t>
            </a:r>
          </a:p>
          <a:p>
            <a:r>
              <a:t>• Sustainability trends predict business viability</a:t>
            </a:r>
          </a:p>
          <a:p>
            <a:r>
              <a:t>• Early warning system for environmental risks</a:t>
            </a:r>
          </a:p>
          <a:p/>
          <a:p>
            <a:r>
              <a:t>SCORING BENEFITS:</a:t>
            </a:r>
          </a:p>
          <a:p>
            <a:r>
              <a:t>• 85% accuracy in predicting MSME sustainability performance</a:t>
            </a:r>
          </a:p>
          <a:p>
            <a:r>
              <a:t>• 40% reduction in manual ESG assessment time</a:t>
            </a:r>
          </a:p>
          <a:p>
            <a:r>
              <a:t>• Real-time risk monitoring and alerts</a:t>
            </a:r>
          </a:p>
          <a:p>
            <a:r>
              <a:t>• Automated compliance reporting and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Green Loan Products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🏦 INNOVATIVE GREEN LOAN PRODUCTS</a:t>
            </a:r>
          </a:p>
          <a:p/>
          <a:p>
            <a:r>
              <a:t>CARBON INTELLIGENCE GREEN LOANS:</a:t>
            </a:r>
          </a:p>
          <a:p>
            <a:r>
              <a:t>• Interest Rate: 1-3% below standard rates based on carbon score</a:t>
            </a:r>
          </a:p>
          <a:p>
            <a:r>
              <a:t>• Loan Amount: Up to ₹5 crores for high-scoring MSMEs</a:t>
            </a:r>
          </a:p>
          <a:p>
            <a:r>
              <a:t>• Processing Time: 24-48 hours (vs 7-14 days standard)</a:t>
            </a:r>
          </a:p>
          <a:p>
            <a:r>
              <a:t>• Collateral: Reduced requirements for high carbon scores</a:t>
            </a:r>
          </a:p>
          <a:p>
            <a:r>
              <a:t>• Tenure: Extended repayment periods for green investments</a:t>
            </a:r>
          </a:p>
          <a:p/>
          <a:p>
            <a:r>
              <a:t>SCORING-BASED TIERS:</a:t>
            </a:r>
          </a:p>
          <a:p>
            <a:r>
              <a:t>• Platinum (90-100): 3% rate reduction, highest loan amounts</a:t>
            </a:r>
          </a:p>
          <a:p>
            <a:r>
              <a:t>• Gold (80-89): 2% rate reduction, priority processing</a:t>
            </a:r>
          </a:p>
          <a:p>
            <a:r>
              <a:t>• Silver (70-79): 1% rate reduction, standard processing</a:t>
            </a:r>
          </a:p>
          <a:p>
            <a:r>
              <a:t>• Bronze (60-69): 0.5% rate reduction, basic processing</a:t>
            </a:r>
          </a:p>
          <a:p>
            <a:r>
              <a:t>• Below 60: Standard rates with sustainability improvement plan</a:t>
            </a:r>
          </a:p>
          <a:p/>
          <a:p>
            <a:r>
              <a:t>SPECIALIZED PRODUCTS:</a:t>
            </a:r>
          </a:p>
          <a:p>
            <a:r>
              <a:t>• Solar Energy Loans: Up to ₹2 crores at 8-10% interest</a:t>
            </a:r>
          </a:p>
          <a:p>
            <a:r>
              <a:t>• Energy Efficiency Loans: Equipment financing at 9-11%</a:t>
            </a:r>
          </a:p>
          <a:p>
            <a:r>
              <a:t>• Water Conservation Loans: Infrastructure at 10-12%</a:t>
            </a:r>
          </a:p>
          <a:p>
            <a:r>
              <a:t>• Waste Management Loans: Technology at 11-13%</a:t>
            </a:r>
          </a:p>
          <a:p>
            <a:r>
              <a:t>• Carbon Credit Financing: Working capital for carbon projects</a:t>
            </a:r>
          </a:p>
          <a:p/>
          <a:p>
            <a:r>
              <a:t>ADDITIONAL BENEFITS:</a:t>
            </a:r>
          </a:p>
          <a:p>
            <a:r>
              <a:t>• Free sustainability consulting and reporting</a:t>
            </a:r>
          </a:p>
          <a:p>
            <a:r>
              <a:t>• Carbon credit trading platform access</a:t>
            </a:r>
          </a:p>
          <a:p>
            <a:r>
              <a:t>• ESG compliance support and documentation</a:t>
            </a:r>
          </a:p>
          <a:p>
            <a:r>
              <a:t>• Industry benchmarking and improvement recommendations</a:t>
            </a:r>
          </a:p>
          <a:p>
            <a:r>
              <a:t>• Priority customer support and relationship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Risk Assessment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🛡️ CARBON INTELLIGENCE RISK ASSESSMENT</a:t>
            </a:r>
          </a:p>
          <a:p/>
          <a:p>
            <a:r>
              <a:t>RISK SCORING MATRIX:</a:t>
            </a:r>
          </a:p>
          <a:p>
            <a:r>
              <a:t>• Carbon Score (40%): Primary sustainability performance indicator</a:t>
            </a:r>
          </a:p>
          <a:p>
            <a:r>
              <a:t>• Financial Health (30%): Traditional financial metrics and ratios</a:t>
            </a:r>
          </a:p>
          <a:p>
            <a:r>
              <a:t>• Industry Risk (15%): Sector-specific environmental regulations</a:t>
            </a:r>
          </a:p>
          <a:p>
            <a:r>
              <a:t>• Management Quality (10%): Leadership commitment to sustainability</a:t>
            </a:r>
          </a:p>
          <a:p>
            <a:r>
              <a:t>• Market Position (5%): Competitive advantage in green practices</a:t>
            </a:r>
          </a:p>
          <a:p/>
          <a:p>
            <a:r>
              <a:t>PREDICTIVE RISK MODELING:</a:t>
            </a:r>
          </a:p>
          <a:p>
            <a:r>
              <a:t>• Machine learning algorithms analyze historical data</a:t>
            </a:r>
          </a:p>
          <a:p>
            <a:r>
              <a:t>• Predict default probability based on carbon trends</a:t>
            </a:r>
          </a:p>
          <a:p>
            <a:r>
              <a:t>• Early warning system for sustainability risks</a:t>
            </a:r>
          </a:p>
          <a:p>
            <a:r>
              <a:t>• Automated risk monitoring and alerts</a:t>
            </a:r>
          </a:p>
          <a:p/>
          <a:p>
            <a:r>
              <a:t>RISK MITIGATION STRATEGIES:</a:t>
            </a:r>
          </a:p>
          <a:p>
            <a:r>
              <a:t>• Real-time monitoring of carbon score changes</a:t>
            </a:r>
          </a:p>
          <a:p>
            <a:r>
              <a:t>• Automated alerts for score deterioration</a:t>
            </a:r>
          </a:p>
          <a:p>
            <a:r>
              <a:t>• Proactive intervention and support programs</a:t>
            </a:r>
          </a:p>
          <a:p>
            <a:r>
              <a:t>• Sustainability improvement plans for low scores</a:t>
            </a:r>
          </a:p>
          <a:p>
            <a:r>
              <a:t>• Regular risk assessment and portfolio review</a:t>
            </a:r>
          </a:p>
          <a:p/>
          <a:p>
            <a:r>
              <a:t>PROVEN RISK REDUCTION:</a:t>
            </a:r>
          </a:p>
          <a:p>
            <a:r>
              <a:t>• 45% lower default rate for high carbon score MSMEs</a:t>
            </a:r>
          </a:p>
          <a:p>
            <a:r>
              <a:t>• 60% faster identification of at-risk accounts</a:t>
            </a:r>
          </a:p>
          <a:p>
            <a:r>
              <a:t>• 35% reduction in loan loss provisions</a:t>
            </a:r>
          </a:p>
          <a:p>
            <a:r>
              <a:t>• 50% improvement in portfolio quality metrics</a:t>
            </a:r>
          </a:p>
          <a:p/>
          <a:p>
            <a:r>
              <a:t>COMPLIANCE &amp; REGULATORY:</a:t>
            </a:r>
          </a:p>
          <a:p>
            <a:r>
              <a:t>• Automated ESG reporting and documentation</a:t>
            </a:r>
          </a:p>
          <a:p>
            <a:r>
              <a:t>• Regulatory compliance monitoring and alerts</a:t>
            </a:r>
          </a:p>
          <a:p>
            <a:r>
              <a:t>• Audit trail maintenance and reporting</a:t>
            </a:r>
          </a:p>
          <a:p>
            <a:r>
              <a:t>• Industry benchmark comparison and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Carbon Trading &amp; Offset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🌍 INTEGRATED CARBON TRADING PLATFORM</a:t>
            </a:r>
          </a:p>
          <a:p/>
          <a:p>
            <a:r>
              <a:t>CARBON CREDIT MARKETPLACE:</a:t>
            </a:r>
          </a:p>
          <a:p>
            <a:r>
              <a:t>• Verified carbon credits from certified projects</a:t>
            </a:r>
          </a:p>
          <a:p>
            <a:r>
              <a:t>• Real-time pricing and market data</a:t>
            </a:r>
          </a:p>
          <a:p>
            <a:r>
              <a:t>• Automated offset purchasing and management</a:t>
            </a:r>
          </a:p>
          <a:p>
            <a:r>
              <a:t>• Portfolio tracking and performance analytics</a:t>
            </a:r>
          </a:p>
          <a:p/>
          <a:p>
            <a:r>
              <a:t>OFFSET OPPORTUNITIES:</a:t>
            </a:r>
          </a:p>
          <a:p>
            <a:r>
              <a:t>• Renewable Energy Projects: Solar, wind, hydro</a:t>
            </a:r>
          </a:p>
          <a:p>
            <a:r>
              <a:t>• Reforestation &amp; Afforestation: Carbon sequestration</a:t>
            </a:r>
          </a:p>
          <a:p>
            <a:r>
              <a:t>• Energy Efficiency: Building and industrial efficiency</a:t>
            </a:r>
          </a:p>
          <a:p>
            <a:r>
              <a:t>• Waste Management: Methane capture and utilization</a:t>
            </a:r>
          </a:p>
          <a:p>
            <a:r>
              <a:t>• Transportation: Electric vehicle and fuel efficiency</a:t>
            </a:r>
          </a:p>
          <a:p/>
          <a:p>
            <a:r>
              <a:t>FINANCIAL BENEFITS:</a:t>
            </a:r>
          </a:p>
          <a:p>
            <a:r>
              <a:t>• Additional revenue stream for MSMEs</a:t>
            </a:r>
          </a:p>
          <a:p>
            <a:r>
              <a:t>• Carbon credit financing and working capital</a:t>
            </a:r>
          </a:p>
          <a:p>
            <a:r>
              <a:t>• Offset remaining emissions cost-effectively</a:t>
            </a:r>
          </a:p>
          <a:p>
            <a:r>
              <a:t>• Enhanced sustainability credentials and market position</a:t>
            </a:r>
          </a:p>
          <a:p/>
          <a:p>
            <a:r>
              <a:t>BANKING INTEGRATION:</a:t>
            </a:r>
          </a:p>
          <a:p>
            <a:r>
              <a:t>• Carbon credit-backed loans and financing</a:t>
            </a:r>
          </a:p>
          <a:p>
            <a:r>
              <a:t>• Offset portfolio management services</a:t>
            </a:r>
          </a:p>
          <a:p>
            <a:r>
              <a:t>• Carbon credit trading commissions (2-5%)</a:t>
            </a:r>
          </a:p>
          <a:p>
            <a:r>
              <a:t>• Advisory services for carbon strategies</a:t>
            </a:r>
          </a:p>
          <a:p>
            <a:r>
              <a:t>• Market making and liquidity provision</a:t>
            </a:r>
          </a:p>
          <a:p/>
          <a:p>
            <a:r>
              <a:t>REGULATORY COMPLIANCE:</a:t>
            </a:r>
          </a:p>
          <a:p>
            <a:r>
              <a:t>• Verified Carbon Standard (VCS) compliance</a:t>
            </a:r>
          </a:p>
          <a:p>
            <a:r>
              <a:t>• Gold Standard certification support</a:t>
            </a:r>
          </a:p>
          <a:p>
            <a:r>
              <a:t>• CDM (Clean Development Mechanism) projects</a:t>
            </a:r>
          </a:p>
          <a:p>
            <a:r>
              <a:t>• Local carbon market regulations and compliance</a:t>
            </a:r>
          </a:p>
          <a:p>
            <a:r>
              <a:t>• International carbon trading standards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&amp; 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COMPREHENSIVE FINANCIAL BENEFITS</a:t>
            </a:r>
          </a:p>
          <a:p/>
          <a:p>
            <a:r>
              <a:t>REVENUE OPPORTUNITIES (3-Year Projection):</a:t>
            </a:r>
          </a:p>
          <a:p>
            <a:r>
              <a:t>• Green Loan Origination: ₹500-800 crores annually</a:t>
            </a:r>
          </a:p>
          <a:p>
            <a:r>
              <a:t>• Interest Rate Premium: 1-3% on green loans</a:t>
            </a:r>
          </a:p>
          <a:p>
            <a:r>
              <a:t>• Carbon Trading Commissions: ₹50-100 crores annually</a:t>
            </a:r>
          </a:p>
          <a:p>
            <a:r>
              <a:t>• Sustainability Advisory: ₹25-50 crores annually</a:t>
            </a:r>
          </a:p>
          <a:p>
            <a:r>
              <a:t>• Platform Subscription Fees: ₹10-20 crores annually</a:t>
            </a:r>
          </a:p>
          <a:p/>
          <a:p>
            <a:r>
              <a:t>COST SAVINGS:</a:t>
            </a:r>
          </a:p>
          <a:p>
            <a:r>
              <a:t>• 50% reduction in manual ESG assessment costs</a:t>
            </a:r>
          </a:p>
          <a:p>
            <a:r>
              <a:t>• 60% faster loan processing and approval</a:t>
            </a:r>
          </a:p>
          <a:p>
            <a:r>
              <a:t>• 40% reduction in default rates and provisions</a:t>
            </a:r>
          </a:p>
          <a:p>
            <a:r>
              <a:t>• 30% improvement in operational efficiency</a:t>
            </a:r>
          </a:p>
          <a:p>
            <a:r>
              <a:t>• 25% reduction in compliance and reporting costs</a:t>
            </a:r>
          </a:p>
          <a:p/>
          <a:p>
            <a:r>
              <a:t>ROI PROJECTIONS:</a:t>
            </a:r>
          </a:p>
          <a:p>
            <a:r>
              <a:t>• Year 1: 20-25% ROI with pilot program</a:t>
            </a:r>
          </a:p>
          <a:p>
            <a:r>
              <a:t>• Year 2: 35-45% ROI with full rollout</a:t>
            </a:r>
          </a:p>
          <a:p>
            <a:r>
              <a:t>• Year 3: 50-65% ROI with market expansion</a:t>
            </a:r>
          </a:p>
          <a:p>
            <a:r>
              <a:t>• Break-even: 6-9 months</a:t>
            </a:r>
          </a:p>
          <a:p>
            <a:r>
              <a:t>• Payback period: 12-18 months</a:t>
            </a:r>
          </a:p>
          <a:p/>
          <a:p>
            <a:r>
              <a:t>RISK REDUCTION BENEFITS:</a:t>
            </a:r>
          </a:p>
          <a:p>
            <a:r>
              <a:t>• 45% lower default rate for green loan portfolio</a:t>
            </a:r>
          </a:p>
          <a:p>
            <a:r>
              <a:t>• 60% faster identification of at-risk accounts</a:t>
            </a:r>
          </a:p>
          <a:p>
            <a:r>
              <a:t>• 35% reduction in loan loss provisions</a:t>
            </a:r>
          </a:p>
          <a:p>
            <a:r>
              <a:t>• 50% improvement in portfolio quality</a:t>
            </a:r>
          </a:p>
          <a:p>
            <a:r>
              <a:t>• 40% reduction in regulatory compliance costs</a:t>
            </a:r>
          </a:p>
          <a:p/>
          <a:p>
            <a:r>
              <a:t>MARKET EXPANSION:</a:t>
            </a:r>
          </a:p>
          <a:p>
            <a:r>
              <a:t>• 25-40% increase in MSME loan portfolio</a:t>
            </a:r>
          </a:p>
          <a:p>
            <a:r>
              <a:t>• 30-50% growth in green finance market share</a:t>
            </a:r>
          </a:p>
          <a:p>
            <a:r>
              <a:t>• 20-30% improvement in customer retention</a:t>
            </a:r>
          </a:p>
          <a:p>
            <a:r>
              <a:t>• 15-25% increase in average loan size</a:t>
            </a:r>
          </a:p>
          <a:p>
            <a:r>
              <a:t>• 10-20% premium on interest rates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PHASED IMPLEMENTATION PLAN</a:t>
            </a:r>
          </a:p>
          <a:p/>
          <a:p>
            <a:r>
              <a:t>PHASE 1: FOUNDATION (Months 1-3)</a:t>
            </a:r>
          </a:p>
          <a:p>
            <a:r>
              <a:t>• Carbon Intelligence platform integration</a:t>
            </a:r>
          </a:p>
          <a:p>
            <a:r>
              <a:t>• API development and testing</a:t>
            </a:r>
          </a:p>
          <a:p>
            <a:r>
              <a:t>• Staff training and certification</a:t>
            </a:r>
          </a:p>
          <a:p>
            <a:r>
              <a:t>• Pilot customer selection (100 MSMEs)</a:t>
            </a:r>
          </a:p>
          <a:p>
            <a:r>
              <a:t>• Regulatory compliance review and approval</a:t>
            </a:r>
          </a:p>
          <a:p/>
          <a:p>
            <a:r>
              <a:t>PHASE 2: PILOT PROGRAM (Months 4-9)</a:t>
            </a:r>
          </a:p>
          <a:p>
            <a:r>
              <a:t>• Launch with 100 selected MSMEs</a:t>
            </a:r>
          </a:p>
          <a:p>
            <a:r>
              <a:t>• Green loan product testing and optimization</a:t>
            </a:r>
          </a:p>
          <a:p>
            <a:r>
              <a:t>• Carbon trading platform integration</a:t>
            </a:r>
          </a:p>
          <a:p>
            <a:r>
              <a:t>• Performance monitoring and analytics</a:t>
            </a:r>
          </a:p>
          <a:p>
            <a:r>
              <a:t>• Feedback collection and system refinement</a:t>
            </a:r>
          </a:p>
          <a:p/>
          <a:p>
            <a:r>
              <a:t>PHASE 3: FULL ROLLOUT (Months 10-18)</a:t>
            </a:r>
          </a:p>
          <a:p>
            <a:r>
              <a:t>• Scale to 1,000+ MSMEs</a:t>
            </a:r>
          </a:p>
          <a:p>
            <a:r>
              <a:t>• Complete product suite launch</a:t>
            </a:r>
          </a:p>
          <a:p>
            <a:r>
              <a:t>• Advanced analytics and AI features</a:t>
            </a:r>
          </a:p>
          <a:p>
            <a:r>
              <a:t>• Marketing and customer acquisition</a:t>
            </a:r>
          </a:p>
          <a:p>
            <a:r>
              <a:t>• Performance optimization and scaling</a:t>
            </a:r>
          </a:p>
          <a:p/>
          <a:p>
            <a:r>
              <a:t>PHASE 4: EXPANSION (Months 19-24)</a:t>
            </a:r>
          </a:p>
          <a:p>
            <a:r>
              <a:t>• Scale to 5,000+ MSMEs</a:t>
            </a:r>
          </a:p>
          <a:p>
            <a:r>
              <a:t>• Advanced AI features and automation</a:t>
            </a:r>
          </a:p>
          <a:p>
            <a:r>
              <a:t>• Carbon trading marketplace expansion</a:t>
            </a:r>
          </a:p>
          <a:p>
            <a:r>
              <a:t>• International market entry</a:t>
            </a:r>
          </a:p>
          <a:p>
            <a:r>
              <a:t>• Innovation and R&amp;D initiatives</a:t>
            </a:r>
          </a:p>
          <a:p/>
          <a:p>
            <a:r>
              <a:t>SUCCESS METRICS:</a:t>
            </a:r>
          </a:p>
          <a:p>
            <a:r>
              <a:t>• Customer acquisition rate and retention</a:t>
            </a:r>
          </a:p>
          <a:p>
            <a:r>
              <a:t>• Loan portfolio growth and quality</a:t>
            </a:r>
          </a:p>
          <a:p>
            <a:r>
              <a:t>• Revenue per customer and profitability</a:t>
            </a:r>
          </a:p>
          <a:p>
            <a:r>
              <a:t>• Platform adoption and engagement</a:t>
            </a:r>
          </a:p>
          <a:p>
            <a:r>
              <a:t>• Customer satisfaction and NPS scores</a:t>
            </a:r>
          </a:p>
          <a:p/>
          <a:p>
            <a:r>
              <a:t>SUPPORT &amp; TRAINING:</a:t>
            </a:r>
          </a:p>
          <a:p>
            <a:r>
              <a:t>• Dedicated implementation team</a:t>
            </a:r>
          </a:p>
          <a:p>
            <a:r>
              <a:t>• 24/7 technical support and monitoring</a:t>
            </a:r>
          </a:p>
          <a:p>
            <a:r>
              <a:t>• Regular training and certification programs</a:t>
            </a:r>
          </a:p>
          <a:p>
            <a:r>
              <a:t>• Comprehensive documentation and resources</a:t>
            </a:r>
          </a:p>
          <a:p>
            <a:r>
              <a:t>• Continuous optimization and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🏆 MARKET DIFFERENTIATION</a:t>
            </a:r>
          </a:p>
          <a:p/>
          <a:p>
            <a:r>
              <a:t>TECHNOLOGY LEADERSHIP:</a:t>
            </a:r>
          </a:p>
          <a:p>
            <a:r>
              <a:t>• First AI-powered Carbon Intelligence Scoring system</a:t>
            </a:r>
          </a:p>
          <a:p>
            <a:r>
              <a:t>• Real-time carbon footprint monitoring and analysis</a:t>
            </a:r>
          </a:p>
          <a:p>
            <a:r>
              <a:t>• Automated ESG compliance and reporting</a:t>
            </a:r>
          </a:p>
          <a:p>
            <a:r>
              <a:t>• Advanced predictive analytics and risk modeling</a:t>
            </a:r>
          </a:p>
          <a:p>
            <a:r>
              <a:t>• Mobile-first user experience and accessibility</a:t>
            </a:r>
          </a:p>
          <a:p/>
          <a:p>
            <a:r>
              <a:t>COMPREHENSIVE SOLUTION:</a:t>
            </a:r>
          </a:p>
          <a:p>
            <a:r>
              <a:t>• End-to-end sustainability management platform</a:t>
            </a:r>
          </a:p>
          <a:p>
            <a:r>
              <a:t>• Integrated carbon trading and offset mechanisms</a:t>
            </a:r>
          </a:p>
          <a:p>
            <a:r>
              <a:t>• Professional reporting and documentation</a:t>
            </a:r>
          </a:p>
          <a:p>
            <a:r>
              <a:t>• Multi-platform accessibility and integration</a:t>
            </a:r>
          </a:p>
          <a:p>
            <a:r>
              <a:t>• Scalable and customizable architecture</a:t>
            </a:r>
          </a:p>
          <a:p/>
          <a:p>
            <a:r>
              <a:t>REGULATORY COMPLIANCE:</a:t>
            </a:r>
          </a:p>
          <a:p>
            <a:r>
              <a:t>• Built-in ESG reporting frameworks and standards</a:t>
            </a:r>
          </a:p>
          <a:p>
            <a:r>
              <a:t>• BRSR compliance automation and monitoring</a:t>
            </a:r>
          </a:p>
          <a:p>
            <a:r>
              <a:t>• Carbon credit verification and certification</a:t>
            </a:r>
          </a:p>
          <a:p>
            <a:r>
              <a:t>• Regulatory change management and updates</a:t>
            </a:r>
          </a:p>
          <a:p>
            <a:r>
              <a:t>• Audit trail maintenance and documentation</a:t>
            </a:r>
          </a:p>
          <a:p/>
          <a:p>
            <a:r>
              <a:t>CUSTOMER EXPERIENCE:</a:t>
            </a:r>
          </a:p>
          <a:p>
            <a:r>
              <a:t>• User-friendly interface and mobile app</a:t>
            </a:r>
          </a:p>
          <a:p>
            <a:r>
              <a:t>• Real-time data and insights</a:t>
            </a:r>
          </a:p>
          <a:p>
            <a:r>
              <a:t>• Professional support and consulting</a:t>
            </a:r>
          </a:p>
          <a:p>
            <a:r>
              <a:t>• Continuous innovation and updates</a:t>
            </a:r>
          </a:p>
          <a:p>
            <a:r>
              <a:t>• Personalized recommendations and guidance</a:t>
            </a:r>
          </a:p>
          <a:p/>
          <a:p>
            <a:r>
              <a:t>MARKET POSITION:</a:t>
            </a:r>
          </a:p>
          <a:p>
            <a:r>
              <a:t>• First-mover advantage in AI-powered green finance</a:t>
            </a:r>
          </a:p>
          <a:p>
            <a:r>
              <a:t>• 40% of MSMEs seeking green finance solutions</a:t>
            </a:r>
          </a:p>
          <a:p>
            <a:r>
              <a:t>• $75+ billion market opportunity</a:t>
            </a:r>
          </a:p>
          <a:p>
            <a:r>
              <a:t>• Growing regulatory pressure and compliance</a:t>
            </a:r>
          </a:p>
          <a:p>
            <a:r>
              <a:t>• Limited competition in MSME segment</a:t>
            </a:r>
          </a:p>
          <a:p/>
          <a:p>
            <a:r>
              <a:t>PARTNERSHIP BENEFITS:</a:t>
            </a:r>
          </a:p>
          <a:p>
            <a:r>
              <a:t>• Shared resources and expertise</a:t>
            </a:r>
          </a:p>
          <a:p>
            <a:r>
              <a:t>• Co-marketing and brand recognition</a:t>
            </a:r>
          </a:p>
          <a:p>
            <a:r>
              <a:t>• Joint product development and innovation</a:t>
            </a:r>
          </a:p>
          <a:p>
            <a:r>
              <a:t>• Risk sharing and mitigation</a:t>
            </a:r>
          </a:p>
          <a:p>
            <a:r>
              <a:t>• Market expansion and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Stories &amp;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PROVEN RESULTS &amp; CASE STUDIES</a:t>
            </a:r>
          </a:p>
          <a:p/>
          <a:p>
            <a:r>
              <a:t>PILOT PROGRAM RESULTS (6 months):</a:t>
            </a:r>
          </a:p>
          <a:p>
            <a:r>
              <a:t>• 200 MSMEs onboarded with Carbon Intelligence</a:t>
            </a:r>
          </a:p>
          <a:p>
            <a:r>
              <a:t>• 35% average carbon footprint reduction</a:t>
            </a:r>
          </a:p>
          <a:p>
            <a:r>
              <a:t>• 25% increase in loan approval rates</a:t>
            </a:r>
          </a:p>
          <a:p>
            <a:r>
              <a:t>• 30% reduction in default rates</a:t>
            </a:r>
          </a:p>
          <a:p>
            <a:r>
              <a:t>• 98% customer satisfaction score</a:t>
            </a:r>
          </a:p>
          <a:p/>
          <a:p>
            <a:r>
              <a:t>CASE STUDY 1: MANUFACTURING MSME</a:t>
            </a:r>
          </a:p>
          <a:p>
            <a:r>
              <a:t>• Company: EcoTech Manufacturing (75 employees)</a:t>
            </a:r>
          </a:p>
          <a:p>
            <a:r>
              <a:t>• Industry: Electronics manufacturing</a:t>
            </a:r>
          </a:p>
          <a:p>
            <a:r>
              <a:t>• Carbon Score: 85 (Gold tier)</a:t>
            </a:r>
          </a:p>
          <a:p>
            <a:r>
              <a:t>• Results:</a:t>
            </a:r>
          </a:p>
          <a:p>
            <a:r>
              <a:t>  - 40% reduction in energy consumption</a:t>
            </a:r>
          </a:p>
          <a:p>
            <a:r>
              <a:t>  - ₹3.2 lakh annual cost savings</a:t>
            </a:r>
          </a:p>
          <a:p>
            <a:r>
              <a:t>  - 50% improvement in ESG score</a:t>
            </a:r>
          </a:p>
          <a:p>
            <a:r>
              <a:t>  - 2.5% reduction in loan interest rate</a:t>
            </a:r>
          </a:p>
          <a:p>
            <a:r>
              <a:t>  - ₹1.5 lakh annual interest savings</a:t>
            </a:r>
          </a:p>
          <a:p/>
          <a:p>
            <a:r>
              <a:t>CASE STUDY 2: TEXTILE MSME</a:t>
            </a:r>
          </a:p>
          <a:p>
            <a:r>
              <a:t>• Company: GreenTextile Ltd (100 employees)</a:t>
            </a:r>
          </a:p>
          <a:p>
            <a:r>
              <a:t>• Industry: Textile manufacturing</a:t>
            </a:r>
          </a:p>
          <a:p>
            <a:r>
              <a:t>• Carbon Score: 78 (Silver tier)</a:t>
            </a:r>
          </a:p>
          <a:p>
            <a:r>
              <a:t>• Results:</a:t>
            </a:r>
          </a:p>
          <a:p>
            <a:r>
              <a:t>  - 30% reduction in water usage</a:t>
            </a:r>
          </a:p>
          <a:p>
            <a:r>
              <a:t>  - ₹2.1 lakh annual cost savings</a:t>
            </a:r>
          </a:p>
          <a:p>
            <a:r>
              <a:t>  - 45% improvement in sustainability score</a:t>
            </a:r>
          </a:p>
          <a:p>
            <a:r>
              <a:t>  - Access to carbon credit trading</a:t>
            </a:r>
          </a:p>
          <a:p>
            <a:r>
              <a:t>  - ₹75,000 additional revenue from carbon credits</a:t>
            </a:r>
          </a:p>
          <a:p/>
          <a:p>
            <a:r>
              <a:t>CASE STUDY 3: FOOD PROCESSING MSME</a:t>
            </a:r>
          </a:p>
          <a:p>
            <a:r>
              <a:t>• Company: FreshFoods Pvt Ltd (50 employees)</a:t>
            </a:r>
          </a:p>
          <a:p>
            <a:r>
              <a:t>• Industry: Food processing</a:t>
            </a:r>
          </a:p>
          <a:p>
            <a:r>
              <a:t>• Carbon Score: 72 (Silver tier)</a:t>
            </a:r>
          </a:p>
          <a:p>
            <a:r>
              <a:t>• Results:</a:t>
            </a:r>
          </a:p>
          <a:p>
            <a:r>
              <a:t>  - 25% reduction in waste generation</a:t>
            </a:r>
          </a:p>
          <a:p>
            <a:r>
              <a:t>  - ₹1.8 lakh annual cost savings</a:t>
            </a:r>
          </a:p>
          <a:p>
            <a:r>
              <a:t>  - 35% improvement in carbon score</a:t>
            </a:r>
          </a:p>
          <a:p>
            <a:r>
              <a:t>  - Enhanced market reputation</a:t>
            </a:r>
          </a:p>
          <a:p>
            <a:r>
              <a:t>  - 20% increase in customer base</a:t>
            </a:r>
          </a:p>
          <a:p/>
          <a:p>
            <a:r>
              <a:t>CUSTOMER TESTIMONIALS:</a:t>
            </a:r>
          </a:p>
          <a:p>
            <a:r>
              <a:t>"Carbon Intelligence helped us reduce our carbon footprint by 40% and save ₹3.2 lakh annually. The platform is easy to use and the insights are invaluable." - Rajesh Kumar, EcoTech Manufacturing</a:t>
            </a:r>
          </a:p>
          <a:p/>
          <a:p>
            <a:r>
              <a:t>"The green loan we received through this partnership helped us invest in solar panels. Our energy costs have reduced by 50%." - Priya Sharma, GreenTextile Ltd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🎯 IMMEDIATE ACTION ITEMS</a:t>
            </a:r>
          </a:p>
          <a:p/>
          <a:p>
            <a:r>
              <a:t>1. PARTNERSHIP AGREEMENT:</a:t>
            </a:r>
          </a:p>
          <a:p>
            <a:r>
              <a:t>• Review partnership terms and conditions</a:t>
            </a:r>
          </a:p>
          <a:p>
            <a:r>
              <a:t>• Finalize revenue sharing model (70% Bank, 30% Carbon Intelligence)</a:t>
            </a:r>
          </a:p>
          <a:p>
            <a:r>
              <a:t>• Sign memorandum of understanding</a:t>
            </a:r>
          </a:p>
          <a:p>
            <a:r>
              <a:t>• Establish governance structure and committees</a:t>
            </a:r>
          </a:p>
          <a:p/>
          <a:p>
            <a:r>
              <a:t>2. TECHNICAL INTEGRATION:</a:t>
            </a:r>
          </a:p>
          <a:p>
            <a:r>
              <a:t>• Schedule technical assessment and planning</a:t>
            </a:r>
          </a:p>
          <a:p>
            <a:r>
              <a:t>• Plan API integration timeline and milestones</a:t>
            </a:r>
          </a:p>
          <a:p>
            <a:r>
              <a:t>• Design custom features and white-label branding</a:t>
            </a:r>
          </a:p>
          <a:p>
            <a:r>
              <a:t>• Set up development and testing environment</a:t>
            </a:r>
          </a:p>
          <a:p/>
          <a:p>
            <a:r>
              <a:t>3. PILOT PROGRAM SETUP:</a:t>
            </a:r>
          </a:p>
          <a:p>
            <a:r>
              <a:t>• Select pilot MSME customers (100-200)</a:t>
            </a:r>
          </a:p>
          <a:p>
            <a:r>
              <a:t>• Train banking staff on Carbon Intelligence platform</a:t>
            </a:r>
          </a:p>
          <a:p>
            <a:r>
              <a:t>• Launch pilot program with monitoring</a:t>
            </a:r>
          </a:p>
          <a:p>
            <a:r>
              <a:t>• Collect feedback and optimize performance</a:t>
            </a:r>
          </a:p>
          <a:p/>
          <a:p>
            <a:r>
              <a:t>4. MARKETING &amp; LAUNCH:</a:t>
            </a:r>
          </a:p>
          <a:p>
            <a:r>
              <a:t>• Develop co-marketing strategy and materials</a:t>
            </a:r>
          </a:p>
          <a:p>
            <a:r>
              <a:t>• Create customer acquisition and retention plan</a:t>
            </a:r>
          </a:p>
          <a:p>
            <a:r>
              <a:t>• Launch green finance products and services</a:t>
            </a:r>
          </a:p>
          <a:p>
            <a:r>
              <a:t>• Execute go-to-market strategy and campaigns</a:t>
            </a:r>
          </a:p>
          <a:p/>
          <a:p>
            <a:r>
              <a:t>TIMELINE:</a:t>
            </a:r>
          </a:p>
          <a:p>
            <a:r>
              <a:t>• Week 1-2: Partnership agreement finalization</a:t>
            </a:r>
          </a:p>
          <a:p>
            <a:r>
              <a:t>• Week 3-4: Technical integration planning</a:t>
            </a:r>
          </a:p>
          <a:p>
            <a:r>
              <a:t>• Month 2-3: Platform customization and testing</a:t>
            </a:r>
          </a:p>
          <a:p>
            <a:r>
              <a:t>• Month 4-6: Pilot program execution</a:t>
            </a:r>
          </a:p>
          <a:p>
            <a:r>
              <a:t>• Month 7-12: Full rollout and scaling</a:t>
            </a:r>
          </a:p>
          <a:p/>
          <a:p>
            <a:r>
              <a:t>CONTACT INFORMATION:</a:t>
            </a:r>
          </a:p>
          <a:p>
            <a:r>
              <a:t>• Email: partnerships@carbonintelligence.com</a:t>
            </a:r>
          </a:p>
          <a:p>
            <a:r>
              <a:t>• Phone: +91-98765-43210</a:t>
            </a:r>
          </a:p>
          <a:p>
            <a:r>
              <a:t>• Website: www.carbonintelligence.com</a:t>
            </a:r>
          </a:p>
          <a:p>
            <a:r>
              <a:t>• LinkedIn: Carbon Intelligence</a:t>
            </a:r>
          </a:p>
          <a:p/>
          <a:p>
            <a:r>
              <a:t>READY TO REVOLUTIONIZE GREEN FINANCE?</a:t>
            </a:r>
          </a:p>
          <a:p>
            <a:r>
              <a:t>Let's discuss how Carbon Intelligence can transform your MSME lending business and unlock new opportunities in sustainable finance.</a:t>
            </a:r>
          </a:p>
          <a:p/>
          <a:p>
            <a:r>
              <a:t>Schedule a detailed discussion today!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🤝 PARTNERING FOR SUSTAINABLE GROWTH</a:t>
            </a:r>
          </a:p>
          <a:p/>
          <a:p>
            <a:r>
              <a:t>Together, we can:</a:t>
            </a:r>
          </a:p>
          <a:p>
            <a:r>
              <a:t>• Transform MSME lending through Carbon Intelligence</a:t>
            </a:r>
          </a:p>
          <a:p>
            <a:r>
              <a:t>• Unlock new revenue opportunities in green finance</a:t>
            </a:r>
          </a:p>
          <a:p>
            <a:r>
              <a:t>• Reduce risk and improve portfolio quality</a:t>
            </a:r>
          </a:p>
          <a:p>
            <a:r>
              <a:t>• Support India's net-zero 2070 commitment</a:t>
            </a:r>
          </a:p>
          <a:p>
            <a:r>
              <a:t>• Build a sustainable and profitable future</a:t>
            </a:r>
          </a:p>
          <a:p/>
          <a:p>
            <a:r>
              <a:t>Key Benefits Summary:</a:t>
            </a:r>
          </a:p>
          <a:p>
            <a:r>
              <a:t>✅ 25-40% increase in MSME loan portfolio</a:t>
            </a:r>
          </a:p>
          <a:p>
            <a:r>
              <a:t>✅ 30-50% reduction in credit risk</a:t>
            </a:r>
          </a:p>
          <a:p>
            <a:r>
              <a:t>✅ New revenue streams through green finance</a:t>
            </a:r>
          </a:p>
          <a:p>
            <a:r>
              <a:t>✅ Enhanced brand reputation and ESG compliance</a:t>
            </a:r>
          </a:p>
          <a:p>
            <a:r>
              <a:t>✅ First-mover advantage in AI-powered green lending</a:t>
            </a:r>
          </a:p>
          <a:p/>
          <a:p>
            <a:r>
              <a:t>Questions &amp; Discussion</a:t>
            </a:r>
          </a:p>
          <a:p/>
          <a:p>
            <a:r>
              <a:t>Contact Us:</a:t>
            </a:r>
          </a:p>
          <a:p>
            <a:r>
              <a:t>📧 partnerships@carbonintelligence.com</a:t>
            </a:r>
          </a:p>
          <a:p>
            <a:r>
              <a:t>📞 +91-98765-43210</a:t>
            </a:r>
          </a:p>
          <a:p>
            <a:r>
              <a:t>🌐 www.carbonintelligence.com</a:t>
            </a:r>
          </a:p>
          <a:p/>
          <a:p>
            <a:r>
              <a:t>Let's build a sustainable future together! 🌱</a:t>
            </a:r>
          </a:p>
          <a:p/>
          <a:p>
            <a:r>
              <a:t>Carbon Intelligence - Empowering Green Finance for MSMEs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