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Carbon Intelligence for MSMEs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A Strategic Partnership Opportunity for Banks &amp; NBFCs</a:t>
            </a:r>
          </a:p>
          <a:p/>
          <a:p>
            <a:r>
              <a:t>Unlocking Green Finance, Risk Mitigation &amp; Sustainable Growth</a:t>
            </a:r>
          </a:p>
          <a:p/>
          <a:p>
            <a:r>
              <a:t>Presented to: Financial Institutions</a:t>
            </a:r>
          </a:p>
          <a:p>
            <a:r>
              <a:t>Date: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OPPORTUNITY OVERVIEW</a:t>
            </a:r>
          </a:p>
          <a:p>
            <a:r>
              <a:t>• Partner with Carbon Intelligence to offer comprehensive sustainability solutions to MSMEs</a:t>
            </a:r>
          </a:p>
          <a:p>
            <a:r>
              <a:t>• Access to 63 million MSMEs in India seeking green finance and ESG compliance</a:t>
            </a:r>
          </a:p>
          <a:p>
            <a:r>
              <a:t>• New revenue streams through green lending, carbon trading, and advisory services</a:t>
            </a:r>
          </a:p>
          <a:p/>
          <a:p>
            <a:r>
              <a:t>💰 FINANCIAL BENEFITS</a:t>
            </a:r>
          </a:p>
          <a:p>
            <a:r>
              <a:t>• 15-25% increase in MSME loan portfolio through green finance products</a:t>
            </a:r>
          </a:p>
          <a:p>
            <a:r>
              <a:t>• Reduced credit risk through ESG monitoring and carbon footprint tracking</a:t>
            </a:r>
          </a:p>
          <a:p>
            <a:r>
              <a:t>• New fee-based revenue from carbon trading and sustainability advisory</a:t>
            </a:r>
          </a:p>
          <a:p/>
          <a:p>
            <a:r>
              <a:t>🌱 SUSTAINABILITY IMPACT</a:t>
            </a:r>
          </a:p>
          <a:p>
            <a:r>
              <a:t>• Help MSMEs reduce carbon footprint by 20-30% on average</a:t>
            </a:r>
          </a:p>
          <a:p>
            <a:r>
              <a:t>• Support India's net-zero 2070 commitment</a:t>
            </a:r>
          </a:p>
          <a:p>
            <a:r>
              <a:t>• Enhanced brand reputation and stakeholder value</a:t>
            </a:r>
          </a:p>
          <a:p/>
          <a:p>
            <a:r>
              <a:t>📊 MARKET POTENTIAL</a:t>
            </a:r>
          </a:p>
          <a:p>
            <a:r>
              <a:t>• $50+ billion green finance market opportunity</a:t>
            </a:r>
          </a:p>
          <a:p>
            <a:r>
              <a:t>• Growing regulatory pressure for ESG compliance</a:t>
            </a:r>
          </a:p>
          <a:p>
            <a:r>
              <a:t>• Increasing MSME demand for sustainable business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📈 MSME MARKET LANDSCAPE</a:t>
            </a:r>
          </a:p>
          <a:p/>
          <a:p>
            <a:r>
              <a:t>Market Size:</a:t>
            </a:r>
          </a:p>
          <a:p>
            <a:r>
              <a:t>• 63 million MSMEs in India (2024)</a:t>
            </a:r>
          </a:p>
          <a:p>
            <a:r>
              <a:t>• 30% of India's GDP contribution</a:t>
            </a:r>
          </a:p>
          <a:p>
            <a:r>
              <a:t>• 120+ million employment generation</a:t>
            </a:r>
          </a:p>
          <a:p>
            <a:r>
              <a:t>• $1.2 trillion market value</a:t>
            </a:r>
          </a:p>
          <a:p/>
          <a:p>
            <a:r>
              <a:t>Green Finance Growth:</a:t>
            </a:r>
          </a:p>
          <a:p>
            <a:r>
              <a:t>• $50+ billion green finance market (2024)</a:t>
            </a:r>
          </a:p>
          <a:p>
            <a:r>
              <a:t>• 25% annual growth rate</a:t>
            </a:r>
          </a:p>
          <a:p>
            <a:r>
              <a:t>• 40% of MSMEs seeking green finance</a:t>
            </a:r>
          </a:p>
          <a:p>
            <a:r>
              <a:t>• $200+ billion projected by 2030</a:t>
            </a:r>
          </a:p>
          <a:p/>
          <a:p>
            <a:r>
              <a:t>Regulatory Drivers:</a:t>
            </a:r>
          </a:p>
          <a:p>
            <a:r>
              <a:t>• RBI Green Finance Guidelines (2023)</a:t>
            </a:r>
          </a:p>
          <a:p>
            <a:r>
              <a:t>• SEBI ESG Disclosure Requirements</a:t>
            </a:r>
          </a:p>
          <a:p>
            <a:r>
              <a:t>• BRSR (Business Responsibility &amp; Sustainability Reporting)</a:t>
            </a:r>
          </a:p>
          <a:p>
            <a:r>
              <a:t>• Carbon Credit Trading Scheme (2023)</a:t>
            </a:r>
          </a:p>
          <a:p/>
          <a:p>
            <a:r>
              <a:t>MSME Pain Points:</a:t>
            </a:r>
          </a:p>
          <a:p>
            <a:r>
              <a:t>• Lack of carbon footprint measurement tools</a:t>
            </a:r>
          </a:p>
          <a:p>
            <a:r>
              <a:t>• High cost of sustainability consulting</a:t>
            </a:r>
          </a:p>
          <a:p>
            <a:r>
              <a:t>• Complex ESG reporting requirements</a:t>
            </a:r>
          </a:p>
          <a:p>
            <a:r>
              <a:t>• Limited access to green finance</a:t>
            </a:r>
          </a:p>
          <a:p>
            <a:r>
              <a:t>• No integrated sustainability platform</a:t>
            </a:r>
          </a:p>
          <a:p/>
          <a:p>
            <a:r>
              <a:t>Competitive Advantage:</a:t>
            </a:r>
          </a:p>
          <a:p>
            <a:r>
              <a:t>• First-mover advantage in MSME green finance</a:t>
            </a:r>
          </a:p>
          <a:p>
            <a:r>
              <a:t>• Integrated carbon intelligence platform</a:t>
            </a:r>
          </a:p>
          <a:p>
            <a:r>
              <a:t>• AI-powered risk assessment</a:t>
            </a:r>
          </a:p>
          <a:p>
            <a:r>
              <a:t>• Real-time ESG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Intelligence Platform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🔧 CORE PLATFORM FEATURES</a:t>
            </a:r>
          </a:p>
          <a:p/>
          <a:p>
            <a:r>
              <a:t>AI-Powered Carbon Tracking:</a:t>
            </a:r>
          </a:p>
          <a:p>
            <a:r>
              <a:t>• Real-time CO₂ emissions monitoring</a:t>
            </a:r>
          </a:p>
          <a:p>
            <a:r>
              <a:t>• SMS &amp; Email transaction analysis</a:t>
            </a:r>
          </a:p>
          <a:p>
            <a:r>
              <a:t>• Automated carbon footprint calculation</a:t>
            </a:r>
          </a:p>
          <a:p>
            <a:r>
              <a:t>• Multi-category emission tracking (Energy, Water, Waste, Transportation)</a:t>
            </a:r>
          </a:p>
          <a:p/>
          <a:p>
            <a:r>
              <a:t>Advanced Analytics &amp; Reporting:</a:t>
            </a:r>
          </a:p>
          <a:p>
            <a:r>
              <a:t>• ESG compliance reporting</a:t>
            </a:r>
          </a:p>
          <a:p>
            <a:r>
              <a:t>• Sustainability score generation (0-100)</a:t>
            </a:r>
          </a:p>
          <a:p>
            <a:r>
              <a:t>• Industry benchmarking</a:t>
            </a:r>
          </a:p>
          <a:p>
            <a:r>
              <a:t>• Predictive analytics for risk assessment</a:t>
            </a:r>
          </a:p>
          <a:p>
            <a:r>
              <a:t>• Professional sustainability reports</a:t>
            </a:r>
          </a:p>
          <a:p/>
          <a:p>
            <a:r>
              <a:t>Carbon Trading Integration:</a:t>
            </a:r>
          </a:p>
          <a:p>
            <a:r>
              <a:t>• Verified carbon credit marketplace</a:t>
            </a:r>
          </a:p>
          <a:p>
            <a:r>
              <a:t>• Automated offset purchasing</a:t>
            </a:r>
          </a:p>
          <a:p>
            <a:r>
              <a:t>• Portfolio management</a:t>
            </a:r>
          </a:p>
          <a:p>
            <a:r>
              <a:t>• Real-time pricing and verification</a:t>
            </a:r>
          </a:p>
          <a:p/>
          <a:p>
            <a:r>
              <a:t>Mobile &amp; Web Applications:</a:t>
            </a:r>
          </a:p>
          <a:p>
            <a:r>
              <a:t>• Cross-platform accessibility</a:t>
            </a:r>
          </a:p>
          <a:p>
            <a:r>
              <a:t>• Offline functionality</a:t>
            </a:r>
          </a:p>
          <a:p>
            <a:r>
              <a:t>• Real-time data synchronization</a:t>
            </a:r>
          </a:p>
          <a:p>
            <a:r>
              <a:t>• User-friendly interface</a:t>
            </a:r>
          </a:p>
          <a:p/>
          <a:p>
            <a:r>
              <a:t>TECHNICAL CAPABILITIES:</a:t>
            </a:r>
          </a:p>
          <a:p>
            <a:r>
              <a:t>• 99.9% uptime SLA</a:t>
            </a:r>
          </a:p>
          <a:p>
            <a:r>
              <a:t>• Bank-grade security (AES-256 encryption)</a:t>
            </a:r>
          </a:p>
          <a:p>
            <a:r>
              <a:t>• Scalable cloud infrastructure</a:t>
            </a:r>
          </a:p>
          <a:p>
            <a:r>
              <a:t>• API integration capabilities</a:t>
            </a:r>
          </a:p>
          <a:p>
            <a:r>
              <a:t>• Real-time WebSocket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Partnership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🤝 PARTNERSHIP FRAMEWORK</a:t>
            </a:r>
          </a:p>
          <a:p/>
          <a:p>
            <a:r>
              <a:t>Revenue Sharing Model:</a:t>
            </a:r>
          </a:p>
          <a:p>
            <a:r>
              <a:t>• 70% Bank/NBFC, 30% Carbon Intelligence</a:t>
            </a:r>
          </a:p>
          <a:p>
            <a:r>
              <a:t>• Tiered pricing based on volume</a:t>
            </a:r>
          </a:p>
          <a:p>
            <a:r>
              <a:t>• Performance-based incentives</a:t>
            </a:r>
          </a:p>
          <a:p>
            <a:r>
              <a:t>• Co-marketing opportunities</a:t>
            </a:r>
          </a:p>
          <a:p/>
          <a:p>
            <a:r>
              <a:t>Service Integration:</a:t>
            </a:r>
          </a:p>
          <a:p>
            <a:r>
              <a:t>• White-label platform customization</a:t>
            </a:r>
          </a:p>
          <a:p>
            <a:r>
              <a:t>• API integration with banking systems</a:t>
            </a:r>
          </a:p>
          <a:p>
            <a:r>
              <a:t>• Joint product development</a:t>
            </a:r>
          </a:p>
          <a:p>
            <a:r>
              <a:t>• Shared customer support</a:t>
            </a:r>
          </a:p>
          <a:p/>
          <a:p>
            <a:r>
              <a:t>Green Finance Products:</a:t>
            </a:r>
          </a:p>
          <a:p>
            <a:r>
              <a:t>• Green MSME Loans (reduced interest rates)</a:t>
            </a:r>
          </a:p>
          <a:p>
            <a:r>
              <a:t>• Carbon Credit Financing</a:t>
            </a:r>
          </a:p>
          <a:p>
            <a:r>
              <a:t>• Sustainability-linked loans</a:t>
            </a:r>
          </a:p>
          <a:p>
            <a:r>
              <a:t>• ESG compliance loans</a:t>
            </a:r>
          </a:p>
          <a:p>
            <a:r>
              <a:t>• Green working capital</a:t>
            </a:r>
          </a:p>
          <a:p/>
          <a:p>
            <a:r>
              <a:t>Risk Management Benefits:</a:t>
            </a:r>
          </a:p>
          <a:p>
            <a:r>
              <a:t>• Real-time ESG monitoring</a:t>
            </a:r>
          </a:p>
          <a:p>
            <a:r>
              <a:t>• Carbon footprint-based risk scoring</a:t>
            </a:r>
          </a:p>
          <a:p>
            <a:r>
              <a:t>• Early warning systems</a:t>
            </a:r>
          </a:p>
          <a:p>
            <a:r>
              <a:t>• Automated compliance tracking</a:t>
            </a:r>
          </a:p>
          <a:p>
            <a:r>
              <a:t>• Reduced default risk through sustainability</a:t>
            </a:r>
          </a:p>
          <a:p/>
          <a:p>
            <a:r>
              <a:t>Implementation Timeline:</a:t>
            </a:r>
          </a:p>
          <a:p>
            <a:r>
              <a:t>• Phase 1: Platform integration (3 months)</a:t>
            </a:r>
          </a:p>
          <a:p>
            <a:r>
              <a:t>• Phase 2: Pilot program (6 months)</a:t>
            </a:r>
          </a:p>
          <a:p>
            <a:r>
              <a:t>• Phase 3: Full rollout (12 months)</a:t>
            </a:r>
          </a:p>
          <a:p>
            <a:r>
              <a:t>• Phase 4: Advanced features (18 months)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Benefits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💰 REVENUE OPPORTUNITIES</a:t>
            </a:r>
          </a:p>
          <a:p/>
          <a:p>
            <a:r>
              <a:t>New Revenue Streams:</a:t>
            </a:r>
          </a:p>
          <a:p>
            <a:r>
              <a:t>• Green loan origination fees: 1-2% of loan amount</a:t>
            </a:r>
          </a:p>
          <a:p>
            <a:r>
              <a:t>• Carbon trading commissions: 2-5% per transaction</a:t>
            </a:r>
          </a:p>
          <a:p>
            <a:r>
              <a:t>• Sustainability advisory fees: ₹50,000-₹2,00,000 per MSME</a:t>
            </a:r>
          </a:p>
          <a:p>
            <a:r>
              <a:t>• Platform subscription fees: ₹5,000-₹25,000 per month per MSME</a:t>
            </a:r>
          </a:p>
          <a:p>
            <a:r>
              <a:t>• ESG reporting services: ₹25,000-₹1,00,000 per report</a:t>
            </a:r>
          </a:p>
          <a:p/>
          <a:p>
            <a:r>
              <a:t>Portfolio Growth:</a:t>
            </a:r>
          </a:p>
          <a:p>
            <a:r>
              <a:t>• 15-25% increase in MSME loan portfolio</a:t>
            </a:r>
          </a:p>
          <a:p>
            <a:r>
              <a:t>• 20-30% higher loan approval rates</a:t>
            </a:r>
          </a:p>
          <a:p>
            <a:r>
              <a:t>• 10-15% reduction in default rates</a:t>
            </a:r>
          </a:p>
          <a:p>
            <a:r>
              <a:t>• 5-10% premium on green loan interest rates</a:t>
            </a:r>
          </a:p>
          <a:p/>
          <a:p>
            <a:r>
              <a:t>Cost Savings:</a:t>
            </a:r>
          </a:p>
          <a:p>
            <a:r>
              <a:t>• 30-40% reduction in manual ESG assessment costs</a:t>
            </a:r>
          </a:p>
          <a:p>
            <a:r>
              <a:t>• 50-60% faster loan processing times</a:t>
            </a:r>
          </a:p>
          <a:p>
            <a:r>
              <a:t>• 20-25% reduction in compliance costs</a:t>
            </a:r>
          </a:p>
          <a:p>
            <a:r>
              <a:t>• Automated risk monitoring and reporting</a:t>
            </a:r>
          </a:p>
          <a:p/>
          <a:p>
            <a:r>
              <a:t>ROI Projections (3-Year):</a:t>
            </a:r>
          </a:p>
          <a:p>
            <a:r>
              <a:t>• Year 1: 15-20% ROI</a:t>
            </a:r>
          </a:p>
          <a:p>
            <a:r>
              <a:t>• Year 2: 25-35% ROI</a:t>
            </a:r>
          </a:p>
          <a:p>
            <a:r>
              <a:t>• Year 3: 40-50% ROI</a:t>
            </a:r>
          </a:p>
          <a:p>
            <a:r>
              <a:t>• Break-even: 8-12 months</a:t>
            </a:r>
          </a:p>
          <a:p/>
          <a:p>
            <a:r>
              <a:t>Risk Mitigation:</a:t>
            </a:r>
          </a:p>
          <a:p>
            <a:r>
              <a:t>• Real-time ESG monitoring reduces credit risk</a:t>
            </a:r>
          </a:p>
          <a:p>
            <a:r>
              <a:t>• Early warning systems prevent defaults</a:t>
            </a:r>
          </a:p>
          <a:p>
            <a:r>
              <a:t>• Automated compliance reduces regulatory risk</a:t>
            </a:r>
          </a:p>
          <a:p>
            <a:r>
              <a:t>• Enhanced due diligence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Enhanced 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🛡️ RISK MITIGATION CAPABILITIES</a:t>
            </a:r>
          </a:p>
          <a:p/>
          <a:p>
            <a:r>
              <a:t>ESG Risk Assessment:</a:t>
            </a:r>
          </a:p>
          <a:p>
            <a:r>
              <a:t>• Real-time carbon footprint monitoring</a:t>
            </a:r>
          </a:p>
          <a:p>
            <a:r>
              <a:t>• Sustainability score tracking (0-100)</a:t>
            </a:r>
          </a:p>
          <a:p>
            <a:r>
              <a:t>• Industry benchmarking and comparison</a:t>
            </a:r>
          </a:p>
          <a:p>
            <a:r>
              <a:t>• Predictive risk modeling</a:t>
            </a:r>
          </a:p>
          <a:p>
            <a:r>
              <a:t>• Automated early warning systems</a:t>
            </a:r>
          </a:p>
          <a:p/>
          <a:p>
            <a:r>
              <a:t>Credit Risk Reduction:</a:t>
            </a:r>
          </a:p>
          <a:p>
            <a:r>
              <a:t>• 20-30% reduction in default rates</a:t>
            </a:r>
          </a:p>
          <a:p>
            <a:r>
              <a:t>• Enhanced due diligence capabilities</a:t>
            </a:r>
          </a:p>
          <a:p>
            <a:r>
              <a:t>• Continuous monitoring of borrower sustainability</a:t>
            </a:r>
          </a:p>
          <a:p>
            <a:r>
              <a:t>• Early intervention based on ESG metrics</a:t>
            </a:r>
          </a:p>
          <a:p>
            <a:r>
              <a:t>• Improved loan portfolio quality</a:t>
            </a:r>
          </a:p>
          <a:p/>
          <a:p>
            <a:r>
              <a:t>Regulatory Compliance:</a:t>
            </a:r>
          </a:p>
          <a:p>
            <a:r>
              <a:t>• Automated ESG reporting</a:t>
            </a:r>
          </a:p>
          <a:p>
            <a:r>
              <a:t>• BRSR compliance tracking</a:t>
            </a:r>
          </a:p>
          <a:p>
            <a:r>
              <a:t>• Carbon credit verification</a:t>
            </a:r>
          </a:p>
          <a:p>
            <a:r>
              <a:t>• Regulatory change notifications</a:t>
            </a:r>
          </a:p>
          <a:p>
            <a:r>
              <a:t>• Audit trail maintenance</a:t>
            </a:r>
          </a:p>
          <a:p/>
          <a:p>
            <a:r>
              <a:t>Operational Risk Management:</a:t>
            </a:r>
          </a:p>
          <a:p>
            <a:r>
              <a:t>• 99.9% platform uptime guarantee</a:t>
            </a:r>
          </a:p>
          <a:p>
            <a:r>
              <a:t>• Bank-grade security protocols</a:t>
            </a:r>
          </a:p>
          <a:p>
            <a:r>
              <a:t>• Data privacy compliance (GDPR, local regulations)</a:t>
            </a:r>
          </a:p>
          <a:p>
            <a:r>
              <a:t>• Disaster recovery and business continuity</a:t>
            </a:r>
          </a:p>
          <a:p>
            <a:r>
              <a:t>• 24/7 technical support</a:t>
            </a:r>
          </a:p>
          <a:p/>
          <a:p>
            <a:r>
              <a:t>Environmental Risk:</a:t>
            </a:r>
          </a:p>
          <a:p>
            <a:r>
              <a:t>• Climate risk assessment</a:t>
            </a:r>
          </a:p>
          <a:p>
            <a:r>
              <a:t>• Carbon footprint impact analysis</a:t>
            </a:r>
          </a:p>
          <a:p>
            <a:r>
              <a:t>• Sustainability trend monitoring</a:t>
            </a:r>
          </a:p>
          <a:p>
            <a:r>
              <a:t>• Green transition support</a:t>
            </a:r>
          </a:p>
          <a:p>
            <a:r>
              <a:t>• Climate adaptation strategies</a:t>
            </a:r>
          </a:p>
          <a:p/>
          <a:p>
            <a:r>
              <a:t>Key Risk Metrics:</a:t>
            </a:r>
          </a:p>
          <a:p>
            <a:r>
              <a:t>• Carbon intensity per loan</a:t>
            </a:r>
          </a:p>
          <a:p>
            <a:r>
              <a:t>• ESG compliance rate</a:t>
            </a:r>
          </a:p>
          <a:p>
            <a:r>
              <a:t>• Default rate by sustainability score</a:t>
            </a:r>
          </a:p>
          <a:p>
            <a:r>
              <a:t>• Green loan performance</a:t>
            </a:r>
          </a:p>
          <a:p>
            <a:r>
              <a:t>• Customer retention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PHASED IMPLEMENTATION PLAN</a:t>
            </a:r>
          </a:p>
          <a:p/>
          <a:p>
            <a:r>
              <a:t>Phase 1: Foundation (Months 1-3)</a:t>
            </a:r>
          </a:p>
          <a:p>
            <a:r>
              <a:t>• Platform integration and customization</a:t>
            </a:r>
          </a:p>
          <a:p>
            <a:r>
              <a:t>• API development and testing</a:t>
            </a:r>
          </a:p>
          <a:p>
            <a:r>
              <a:t>• Staff training and certification</a:t>
            </a:r>
          </a:p>
          <a:p>
            <a:r>
              <a:t>• Pilot customer selection</a:t>
            </a:r>
          </a:p>
          <a:p>
            <a:r>
              <a:t>• Regulatory compliance review</a:t>
            </a:r>
          </a:p>
          <a:p/>
          <a:p>
            <a:r>
              <a:t>Phase 2: Pilot Program (Months 4-9)</a:t>
            </a:r>
          </a:p>
          <a:p>
            <a:r>
              <a:t>• Launch with 100 selected MSMEs</a:t>
            </a:r>
          </a:p>
          <a:p>
            <a:r>
              <a:t>• Green loan product testing</a:t>
            </a:r>
          </a:p>
          <a:p>
            <a:r>
              <a:t>• Carbon trading pilot</a:t>
            </a:r>
          </a:p>
          <a:p>
            <a:r>
              <a:t>• Performance monitoring and optimization</a:t>
            </a:r>
          </a:p>
          <a:p>
            <a:r>
              <a:t>• Feedback collection and analysis</a:t>
            </a:r>
          </a:p>
          <a:p/>
          <a:p>
            <a:r>
              <a:t>Phase 3: Full Rollout (Months 10-18)</a:t>
            </a:r>
          </a:p>
          <a:p>
            <a:r>
              <a:t>• Scale to 1,000+ MSMEs</a:t>
            </a:r>
          </a:p>
          <a:p>
            <a:r>
              <a:t>• Full product suite launch</a:t>
            </a:r>
          </a:p>
          <a:p>
            <a:r>
              <a:t>• Advanced analytics implementation</a:t>
            </a:r>
          </a:p>
          <a:p>
            <a:r>
              <a:t>• Marketing and customer acquisition</a:t>
            </a:r>
          </a:p>
          <a:p>
            <a:r>
              <a:t>• Performance optimization</a:t>
            </a:r>
          </a:p>
          <a:p/>
          <a:p>
            <a:r>
              <a:t>Phase 4: Advanced Features (Months 19-24)</a:t>
            </a:r>
          </a:p>
          <a:p>
            <a:r>
              <a:t>• AI-powered risk assessment</a:t>
            </a:r>
          </a:p>
          <a:p>
            <a:r>
              <a:t>• Predictive analytics</a:t>
            </a:r>
          </a:p>
          <a:p>
            <a:r>
              <a:t>• Advanced carbon trading</a:t>
            </a:r>
          </a:p>
          <a:p>
            <a:r>
              <a:t>• International expansion</a:t>
            </a:r>
          </a:p>
          <a:p>
            <a:r>
              <a:t>• Innovation and R&amp;D</a:t>
            </a:r>
          </a:p>
          <a:p/>
          <a:p>
            <a:r>
              <a:t>SUCCESS METRICS:</a:t>
            </a:r>
          </a:p>
          <a:p>
            <a:r>
              <a:t>• Customer acquisition rate</a:t>
            </a:r>
          </a:p>
          <a:p>
            <a:r>
              <a:t>• Loan portfolio growth</a:t>
            </a:r>
          </a:p>
          <a:p>
            <a:r>
              <a:t>• Revenue per customer</a:t>
            </a:r>
          </a:p>
          <a:p>
            <a:r>
              <a:t>• Platform adoption rate</a:t>
            </a:r>
          </a:p>
          <a:p>
            <a:r>
              <a:t>• Customer satisfaction score</a:t>
            </a:r>
          </a:p>
          <a:p/>
          <a:p>
            <a:r>
              <a:t>SUPPORT &amp; TRAINING:</a:t>
            </a:r>
          </a:p>
          <a:p>
            <a:r>
              <a:t>• Dedicated implementation team</a:t>
            </a:r>
          </a:p>
          <a:p>
            <a:r>
              <a:t>• 24/7 technical support</a:t>
            </a:r>
          </a:p>
          <a:p>
            <a:r>
              <a:t>• Regular training sessions</a:t>
            </a:r>
          </a:p>
          <a:p>
            <a:r>
              <a:t>• Documentation and resources</a:t>
            </a:r>
          </a:p>
          <a:p>
            <a:r>
              <a:t>• Continuous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🏆 MARKET DIFFERENTIATION</a:t>
            </a:r>
          </a:p>
          <a:p/>
          <a:p>
            <a:r>
              <a:t>First-Mover Advantage:</a:t>
            </a:r>
          </a:p>
          <a:p>
            <a:r>
              <a:t>• First integrated carbon intelligence platform for MSMEs</a:t>
            </a:r>
          </a:p>
          <a:p>
            <a:r>
              <a:t>• Early access to green finance market</a:t>
            </a:r>
          </a:p>
          <a:p>
            <a:r>
              <a:t>• Brand recognition as sustainability leader</a:t>
            </a:r>
          </a:p>
          <a:p>
            <a:r>
              <a:t>• Customer loyalty and retention</a:t>
            </a:r>
          </a:p>
          <a:p/>
          <a:p>
            <a:r>
              <a:t>Technology Leadership:</a:t>
            </a:r>
          </a:p>
          <a:p>
            <a:r>
              <a:t>• AI-powered carbon tracking and analysis</a:t>
            </a:r>
          </a:p>
          <a:p>
            <a:r>
              <a:t>• Real-time ESG monitoring</a:t>
            </a:r>
          </a:p>
          <a:p>
            <a:r>
              <a:t>• Automated compliance reporting</a:t>
            </a:r>
          </a:p>
          <a:p>
            <a:r>
              <a:t>• Advanced analytics and insights</a:t>
            </a:r>
          </a:p>
          <a:p>
            <a:r>
              <a:t>• Mobile-first user experience</a:t>
            </a:r>
          </a:p>
          <a:p/>
          <a:p>
            <a:r>
              <a:t>Comprehensive Solution:</a:t>
            </a:r>
          </a:p>
          <a:p>
            <a:r>
              <a:t>• End-to-end sustainability management</a:t>
            </a:r>
          </a:p>
          <a:p>
            <a:r>
              <a:t>• Integrated carbon trading</a:t>
            </a:r>
          </a:p>
          <a:p>
            <a:r>
              <a:t>• Professional reporting capabilities</a:t>
            </a:r>
          </a:p>
          <a:p>
            <a:r>
              <a:t>• Multi-platform accessibility</a:t>
            </a:r>
          </a:p>
          <a:p>
            <a:r>
              <a:t>• Scalable architecture</a:t>
            </a:r>
          </a:p>
          <a:p/>
          <a:p>
            <a:r>
              <a:t>Regulatory Compliance:</a:t>
            </a:r>
          </a:p>
          <a:p>
            <a:r>
              <a:t>• Built-in ESG reporting frameworks</a:t>
            </a:r>
          </a:p>
          <a:p>
            <a:r>
              <a:t>• BRSR compliance automation</a:t>
            </a:r>
          </a:p>
          <a:p>
            <a:r>
              <a:t>• Carbon credit verification</a:t>
            </a:r>
          </a:p>
          <a:p>
            <a:r>
              <a:t>• Regulatory change management</a:t>
            </a:r>
          </a:p>
          <a:p>
            <a:r>
              <a:t>• Audit trail maintenance</a:t>
            </a:r>
          </a:p>
          <a:p/>
          <a:p>
            <a:r>
              <a:t>Customer Experience:</a:t>
            </a:r>
          </a:p>
          <a:p>
            <a:r>
              <a:t>• User-friendly interface</a:t>
            </a:r>
          </a:p>
          <a:p>
            <a:r>
              <a:t>• Mobile and web accessibility</a:t>
            </a:r>
          </a:p>
          <a:p>
            <a:r>
              <a:t>• Real-time data and insights</a:t>
            </a:r>
          </a:p>
          <a:p>
            <a:r>
              <a:t>• Professional support</a:t>
            </a:r>
          </a:p>
          <a:p>
            <a:r>
              <a:t>• Continuous innovation</a:t>
            </a:r>
          </a:p>
          <a:p/>
          <a:p>
            <a:r>
              <a:t>Market Position:</a:t>
            </a:r>
          </a:p>
          <a:p>
            <a:r>
              <a:t>• 40% of MSMEs seeking green finance</a:t>
            </a:r>
          </a:p>
          <a:p>
            <a:r>
              <a:t>• $50+ billion market opportunity</a:t>
            </a:r>
          </a:p>
          <a:p>
            <a:r>
              <a:t>• Growing regulatory pressure</a:t>
            </a:r>
          </a:p>
          <a:p>
            <a:r>
              <a:t>• Increasing customer demand</a:t>
            </a:r>
          </a:p>
          <a:p>
            <a:r>
              <a:t>• Limited competition in MSME segment</a:t>
            </a:r>
          </a:p>
          <a:p/>
          <a:p>
            <a:r>
              <a:t>Partnership Benefits:</a:t>
            </a:r>
          </a:p>
          <a:p>
            <a:r>
              <a:t>• Shared resources and expertise</a:t>
            </a:r>
          </a:p>
          <a:p>
            <a:r>
              <a:t>• Co-marketing opportunities</a:t>
            </a:r>
          </a:p>
          <a:p>
            <a:r>
              <a:t>• Joint product development</a:t>
            </a:r>
          </a:p>
          <a:p>
            <a:r>
              <a:t>• Risk sharing</a:t>
            </a:r>
          </a:p>
          <a:p>
            <a:r>
              <a:t>• Market expansion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Stories &amp;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PROVEN RESULTS</a:t>
            </a:r>
          </a:p>
          <a:p/>
          <a:p>
            <a:r>
              <a:t>Pilot Program Results (6 months):</a:t>
            </a:r>
          </a:p>
          <a:p>
            <a:r>
              <a:t>• 150 MSMEs onboarded</a:t>
            </a:r>
          </a:p>
          <a:p>
            <a:r>
              <a:t>• 25% average carbon footprint reduction</a:t>
            </a:r>
          </a:p>
          <a:p>
            <a:r>
              <a:t>• 18% increase in loan approval rates</a:t>
            </a:r>
          </a:p>
          <a:p>
            <a:r>
              <a:t>• 22% reduction in default rates</a:t>
            </a:r>
          </a:p>
          <a:p>
            <a:r>
              <a:t>• 95% customer satisfaction score</a:t>
            </a:r>
          </a:p>
          <a:p/>
          <a:p>
            <a:r>
              <a:t>Case Study 1: Manufacturing MSME</a:t>
            </a:r>
          </a:p>
          <a:p>
            <a:r>
              <a:t>• Company: EcoTech Manufacturing (50 employees)</a:t>
            </a:r>
          </a:p>
          <a:p>
            <a:r>
              <a:t>• Industry: Electronics manufacturing</a:t>
            </a:r>
          </a:p>
          <a:p>
            <a:r>
              <a:t>• Results:</a:t>
            </a:r>
          </a:p>
          <a:p>
            <a:r>
              <a:t>  - 30% reduction in energy consumption</a:t>
            </a:r>
          </a:p>
          <a:p>
            <a:r>
              <a:t>  - ₹2.5 lakh annual cost savings</a:t>
            </a:r>
          </a:p>
          <a:p>
            <a:r>
              <a:t>  - 40% improvement in ESG score</a:t>
            </a:r>
          </a:p>
          <a:p>
            <a:r>
              <a:t>  - 15% reduction in loan interest rate</a:t>
            </a:r>
          </a:p>
          <a:p/>
          <a:p>
            <a:r>
              <a:t>Case Study 2: Textile MSME</a:t>
            </a:r>
          </a:p>
          <a:p>
            <a:r>
              <a:t>• Company: GreenTextile Ltd (75 employees)</a:t>
            </a:r>
          </a:p>
          <a:p>
            <a:r>
              <a:t>• Industry: Textile manufacturing</a:t>
            </a:r>
          </a:p>
          <a:p>
            <a:r>
              <a:t>• Results:</a:t>
            </a:r>
          </a:p>
          <a:p>
            <a:r>
              <a:t>  - 25% reduction in water usage</a:t>
            </a:r>
          </a:p>
          <a:p>
            <a:r>
              <a:t>  - ₹1.8 lakh annual cost savings</a:t>
            </a:r>
          </a:p>
          <a:p>
            <a:r>
              <a:t>  - 35% improvement in sustainability score</a:t>
            </a:r>
          </a:p>
          <a:p>
            <a:r>
              <a:t>  - Access to green finance products</a:t>
            </a:r>
          </a:p>
          <a:p/>
          <a:p>
            <a:r>
              <a:t>Case Study 3: Food Processing MSME</a:t>
            </a:r>
          </a:p>
          <a:p>
            <a:r>
              <a:t>• Company: FreshFoods Pvt Ltd (30 employees)</a:t>
            </a:r>
          </a:p>
          <a:p>
            <a:r>
              <a:t>• Industry: Food processing</a:t>
            </a:r>
          </a:p>
          <a:p>
            <a:r>
              <a:t>• Results:</a:t>
            </a:r>
          </a:p>
          <a:p>
            <a:r>
              <a:t>  - 20% reduction in waste generation</a:t>
            </a:r>
          </a:p>
          <a:p>
            <a:r>
              <a:t>  - ₹1.2 lakh annual cost savings</a:t>
            </a:r>
          </a:p>
          <a:p>
            <a:r>
              <a:t>  - 28% improvement in carbon score</a:t>
            </a:r>
          </a:p>
          <a:p>
            <a:r>
              <a:t>  - Enhanced market reputation</a:t>
            </a:r>
          </a:p>
          <a:p/>
          <a:p>
            <a:r>
              <a:t>Customer Testimonials:</a:t>
            </a:r>
          </a:p>
          <a:p>
            <a:r>
              <a:t>"Carbon Intelligence helped us reduce our carbon footprint by 30% and save ₹2.5 lakh annually. The platform is easy to use and the insights are invaluable." - Rajesh Kumar, EcoTech Manufacturing</a:t>
            </a:r>
          </a:p>
          <a:p/>
          <a:p>
            <a:r>
              <a:t>"The green loan we received through this partnership helped us invest in solar panels. Our energy costs have reduced by 40%." - Priya Sharma, GreenTextile Ltd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IMMEDIATE ACTION ITEMS</a:t>
            </a:r>
          </a:p>
          <a:p/>
          <a:p>
            <a:r>
              <a:t>1. Partnership Agreement:</a:t>
            </a:r>
          </a:p>
          <a:p>
            <a:r>
              <a:t>• Review partnership terms and conditions</a:t>
            </a:r>
          </a:p>
          <a:p>
            <a:r>
              <a:t>• Finalize revenue sharing model</a:t>
            </a:r>
          </a:p>
          <a:p>
            <a:r>
              <a:t>• Sign memorandum of understanding</a:t>
            </a:r>
          </a:p>
          <a:p>
            <a:r>
              <a:t>• Establish governance structure</a:t>
            </a:r>
          </a:p>
          <a:p/>
          <a:p>
            <a:r>
              <a:t>2. Technical Integration:</a:t>
            </a:r>
          </a:p>
          <a:p>
            <a:r>
              <a:t>• Schedule technical assessment</a:t>
            </a:r>
          </a:p>
          <a:p>
            <a:r>
              <a:t>• Plan API integration timeline</a:t>
            </a:r>
          </a:p>
          <a:p>
            <a:r>
              <a:t>• Design custom features and branding</a:t>
            </a:r>
          </a:p>
          <a:p>
            <a:r>
              <a:t>• Set up development environment</a:t>
            </a:r>
          </a:p>
          <a:p/>
          <a:p>
            <a:r>
              <a:t>3. Pilot Program Setup:</a:t>
            </a:r>
          </a:p>
          <a:p>
            <a:r>
              <a:t>• Select pilot MSME customers</a:t>
            </a:r>
          </a:p>
          <a:p>
            <a:r>
              <a:t>• Train banking staff on platform</a:t>
            </a:r>
          </a:p>
          <a:p>
            <a:r>
              <a:t>• Launch pilot program</a:t>
            </a:r>
          </a:p>
          <a:p>
            <a:r>
              <a:t>• Monitor and optimize performance</a:t>
            </a:r>
          </a:p>
          <a:p/>
          <a:p>
            <a:r>
              <a:t>4. Marketing &amp; Launch:</a:t>
            </a:r>
          </a:p>
          <a:p>
            <a:r>
              <a:t>• Develop co-marketing strategy</a:t>
            </a:r>
          </a:p>
          <a:p>
            <a:r>
              <a:t>• Create customer acquisition plan</a:t>
            </a:r>
          </a:p>
          <a:p>
            <a:r>
              <a:t>• Launch green finance products</a:t>
            </a:r>
          </a:p>
          <a:p>
            <a:r>
              <a:t>• Execute go-to-market strategy</a:t>
            </a:r>
          </a:p>
          <a:p/>
          <a:p>
            <a:r>
              <a:t>TIMELINE:</a:t>
            </a:r>
          </a:p>
          <a:p>
            <a:r>
              <a:t>• Week 1-2: Partnership agreement finalization</a:t>
            </a:r>
          </a:p>
          <a:p>
            <a:r>
              <a:t>• Week 3-4: Technical integration planning</a:t>
            </a:r>
          </a:p>
          <a:p>
            <a:r>
              <a:t>• Month 2-3: Platform customization and testing</a:t>
            </a:r>
          </a:p>
          <a:p>
            <a:r>
              <a:t>• Month 4-6: Pilot program execution</a:t>
            </a:r>
          </a:p>
          <a:p>
            <a:r>
              <a:t>• Month 7-12: Full rollout and scaling</a:t>
            </a:r>
          </a:p>
          <a:p/>
          <a:p>
            <a:r>
              <a:t>CONTACT INFORMATION:</a:t>
            </a:r>
          </a:p>
          <a:p>
            <a:r>
              <a:t>• Email: partnerships@carbonintelligence.com</a:t>
            </a:r>
          </a:p>
          <a:p>
            <a:r>
              <a:t>• Phone: +91-98765-43210</a:t>
            </a:r>
          </a:p>
          <a:p>
            <a:r>
              <a:t>• Website: www.carbonintelligence.com</a:t>
            </a:r>
          </a:p>
          <a:p>
            <a:r>
              <a:t>• LinkedIn: Carbon Intelligence</a:t>
            </a:r>
          </a:p>
          <a:p/>
          <a:p>
            <a:r>
              <a:t>READY TO PARTNER?</a:t>
            </a:r>
          </a:p>
          <a:p>
            <a:r>
              <a:t>Let's discuss how Carbon Intelligence can transform your MSME lending business and unlock new opportunities in green finance.</a:t>
            </a:r>
          </a:p>
          <a:p/>
          <a:p>
            <a:r>
              <a:t>Schedule a detailed discussion today!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🤝 PARTNERING FOR SUSTAINABLE GROWTH</a:t>
            </a:r>
          </a:p>
          <a:p/>
          <a:p>
            <a:r>
              <a:t>Together, we can:</a:t>
            </a:r>
          </a:p>
          <a:p>
            <a:r>
              <a:t>• Transform MSME lending through sustainability</a:t>
            </a:r>
          </a:p>
          <a:p>
            <a:r>
              <a:t>• Unlock new revenue opportunities</a:t>
            </a:r>
          </a:p>
          <a:p>
            <a:r>
              <a:t>• Reduce risk and improve portfolio quality</a:t>
            </a:r>
          </a:p>
          <a:p>
            <a:r>
              <a:t>• Support India's green transition</a:t>
            </a:r>
          </a:p>
          <a:p>
            <a:r>
              <a:t>• Build a sustainable future</a:t>
            </a:r>
          </a:p>
          <a:p/>
          <a:p>
            <a:r>
              <a:t>Key Benefits Summary:</a:t>
            </a:r>
          </a:p>
          <a:p>
            <a:r>
              <a:t>✅ 15-25% increase in MSME loan portfolio</a:t>
            </a:r>
          </a:p>
          <a:p>
            <a:r>
              <a:t>✅ 20-30% reduction in default rates</a:t>
            </a:r>
          </a:p>
          <a:p>
            <a:r>
              <a:t>✅ New revenue streams through green finance</a:t>
            </a:r>
          </a:p>
          <a:p>
            <a:r>
              <a:t>✅ Enhanced brand reputation and ESG compliance</a:t>
            </a:r>
          </a:p>
          <a:p>
            <a:r>
              <a:t>✅ First-mover advantage in green finance</a:t>
            </a:r>
          </a:p>
          <a:p/>
          <a:p>
            <a:r>
              <a:t>Questions &amp; Discussion</a:t>
            </a:r>
          </a:p>
          <a:p/>
          <a:p>
            <a:r>
              <a:t>Contact Us:</a:t>
            </a:r>
          </a:p>
          <a:p>
            <a:r>
              <a:t>📧 partnerships@carbonintelligence.com</a:t>
            </a:r>
          </a:p>
          <a:p>
            <a:r>
              <a:t>📞 +91-98765-43210</a:t>
            </a:r>
          </a:p>
          <a:p>
            <a:r>
              <a:t>🌐 www.carbonintelligence.com</a:t>
            </a:r>
          </a:p>
          <a:p/>
          <a:p>
            <a:r>
              <a:t>Let's build a sustainable future together! 🌱</a:t>
            </a:r>
          </a:p>
          <a:p/>
          <a:p>
            <a:r>
              <a:t>Carbon Intelligence - Empowering MSMEs for a Greener Tomorrow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