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72" r:id="rId3"/>
    <p:sldId id="257" r:id="rId4"/>
    <p:sldId id="268" r:id="rId5"/>
    <p:sldId id="273" r:id="rId6"/>
    <p:sldId id="258" r:id="rId7"/>
    <p:sldId id="269" r:id="rId8"/>
    <p:sldId id="274" r:id="rId9"/>
    <p:sldId id="259" r:id="rId10"/>
    <p:sldId id="271" r:id="rId11"/>
    <p:sldId id="275" r:id="rId12"/>
    <p:sldId id="260" r:id="rId13"/>
    <p:sldId id="270" r:id="rId14"/>
    <p:sldId id="277" r:id="rId15"/>
    <p:sldId id="261" r:id="rId16"/>
    <p:sldId id="276" r:id="rId17"/>
    <p:sldId id="278" r:id="rId18"/>
    <p:sldId id="262" r:id="rId19"/>
    <p:sldId id="279" r:id="rId20"/>
    <p:sldId id="280" r:id="rId21"/>
    <p:sldId id="263" r:id="rId22"/>
    <p:sldId id="281" r:id="rId23"/>
    <p:sldId id="282" r:id="rId24"/>
    <p:sldId id="264" r:id="rId25"/>
    <p:sldId id="283" r:id="rId26"/>
    <p:sldId id="284" r:id="rId27"/>
    <p:sldId id="265" r:id="rId28"/>
    <p:sldId id="288" r:id="rId29"/>
    <p:sldId id="289" r:id="rId30"/>
    <p:sldId id="285" r:id="rId31"/>
    <p:sldId id="266" r:id="rId32"/>
    <p:sldId id="290" r:id="rId33"/>
    <p:sldId id="267" r:id="rId34"/>
    <p:sldId id="286" r:id="rId35"/>
    <p:sldId id="287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77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8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45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45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153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494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427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671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256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594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353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876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27720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409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103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6300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2487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079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0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rPr dirty="0"/>
              <a:t>Carbon Intelligence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dirty="0" smtClean="0"/>
              <a:t>for </a:t>
            </a:r>
            <a:r>
              <a:rPr dirty="0"/>
              <a:t>Green Finance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rPr sz="1400" dirty="0"/>
              <a:t>Revolutionary Risk Assessment &amp; Green Loan Solutions for MSMEs</a:t>
            </a:r>
          </a:p>
          <a:p>
            <a:r>
              <a:rPr sz="1600" dirty="0" smtClean="0"/>
              <a:t>Powered </a:t>
            </a:r>
            <a:r>
              <a:rPr sz="1600" dirty="0"/>
              <a:t>by AI-Driven Carbon Intelligence Scoring</a:t>
            </a:r>
          </a:p>
          <a:p>
            <a:pPr algn="ctr"/>
            <a:endParaRPr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 smtClean="0"/>
              <a:t>Executive Summary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22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4460"/>
            <a:ext cx="8845420" cy="4525963"/>
          </a:xfrm>
        </p:spPr>
        <p:txBody>
          <a:bodyPr>
            <a:noAutofit/>
          </a:bodyPr>
          <a:lstStyle/>
          <a:p>
            <a:r>
              <a:rPr b="1" dirty="0"/>
              <a:t>🎯 REVOLUTIONARY GREEN FINANCE OPPORTUNITY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 smtClean="0"/>
              <a:t>First </a:t>
            </a:r>
            <a:r>
              <a:rPr dirty="0"/>
              <a:t>AI-powered Carbon Intelligence Scoring system for MSME risk assessment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 smtClean="0"/>
              <a:t>Real-time </a:t>
            </a:r>
            <a:r>
              <a:rPr dirty="0"/>
              <a:t>carbon footprint monitoring and ESG compliance tracking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 smtClean="0"/>
              <a:t>Access </a:t>
            </a:r>
            <a:r>
              <a:rPr dirty="0"/>
              <a:t>to </a:t>
            </a:r>
            <a:r>
              <a:rPr dirty="0" smtClean="0"/>
              <a:t>6</a:t>
            </a:r>
            <a:r>
              <a:rPr lang="en-US" dirty="0" smtClean="0"/>
              <a:t>.32 Crore</a:t>
            </a:r>
            <a:r>
              <a:rPr dirty="0" smtClean="0"/>
              <a:t> </a:t>
            </a:r>
            <a:r>
              <a:rPr dirty="0"/>
              <a:t>MSMEs seeking green finance and sustainability solutions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 smtClean="0"/>
              <a:t>New </a:t>
            </a:r>
            <a:r>
              <a:rPr dirty="0"/>
              <a:t>revenue streams through intelligent green lending and carbon trading</a:t>
            </a:r>
          </a:p>
          <a:p>
            <a:endParaRPr dirty="0"/>
          </a:p>
          <a:p>
            <a:r>
              <a:rPr b="1" dirty="0"/>
              <a:t>💰 FINANCIAL BENEFITS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 smtClean="0"/>
              <a:t>25-40</a:t>
            </a:r>
            <a:r>
              <a:rPr dirty="0"/>
              <a:t>% increase in MSME loan portfolio through intelligent green finance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 smtClean="0"/>
              <a:t>30-50</a:t>
            </a:r>
            <a:r>
              <a:rPr dirty="0"/>
              <a:t>% reduction in credit risk through Carbon Intelligence Scoring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 smtClean="0"/>
              <a:t>New </a:t>
            </a:r>
            <a:r>
              <a:rPr dirty="0"/>
              <a:t>fee-based revenue from carbon trading and sustainability advisory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 smtClean="0"/>
              <a:t>Premium </a:t>
            </a:r>
            <a:r>
              <a:rPr dirty="0"/>
              <a:t>interest rates on green loans with lower default risk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4461"/>
            <a:ext cx="6251510" cy="4605124"/>
          </a:xfrm>
        </p:spPr>
        <p:txBody>
          <a:bodyPr>
            <a:noAutofit/>
          </a:bodyPr>
          <a:lstStyle/>
          <a:p>
            <a:r>
              <a:rPr b="1" dirty="0" smtClean="0"/>
              <a:t>🌱 CARBON INTELLIGENCE SCORING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 smtClean="0"/>
              <a:t>Real-time carbon footprint assessment (0-100 score)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 smtClean="0"/>
              <a:t>Predictive risk modeling based on sustainability metrics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 smtClean="0"/>
              <a:t>Automated ESG compliance monitoring and reporting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 smtClean="0"/>
              <a:t>Industry benchmarking and peer comparison</a:t>
            </a:r>
          </a:p>
          <a:p>
            <a:endParaRPr dirty="0" smtClean="0"/>
          </a:p>
          <a:p>
            <a:r>
              <a:rPr b="1" dirty="0" smtClean="0"/>
              <a:t>📊 MARKET POTENTIAL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 smtClean="0"/>
              <a:t>$75+ billion green finance market opportunity by 2025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 smtClean="0"/>
              <a:t>40% of MSMEs actively seeking green finance solutions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 smtClean="0"/>
              <a:t>Growing regulatory pressure for ESG compliance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 smtClean="0"/>
              <a:t>First-mover advantage in AI-powered green lending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42677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Carbon Intelligence Scoring </a:t>
            </a:r>
            <a:r>
              <a:rPr lang="en-US" dirty="0" smtClean="0"/>
              <a:t>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47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797283" cy="1320800"/>
          </a:xfrm>
        </p:spPr>
        <p:txBody>
          <a:bodyPr/>
          <a:lstStyle/>
          <a:p>
            <a:r>
              <a:rPr dirty="0"/>
              <a:t>Carbon Intelligence Scoring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516778"/>
            <a:ext cx="9383488" cy="4856030"/>
          </a:xfrm>
        </p:spPr>
        <p:txBody>
          <a:bodyPr>
            <a:noAutofit/>
          </a:bodyPr>
          <a:lstStyle/>
          <a:p>
            <a:r>
              <a:rPr sz="1600" b="1" dirty="0" smtClean="0"/>
              <a:t>AI-POWERED </a:t>
            </a:r>
            <a:r>
              <a:rPr sz="1600" b="1" dirty="0"/>
              <a:t>CARBON INTELLIGENCE </a:t>
            </a:r>
            <a:r>
              <a:rPr sz="1600" b="1" dirty="0" smtClean="0"/>
              <a:t>SCORING</a:t>
            </a:r>
            <a:endParaRPr lang="en-US" sz="1600" b="1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sz="1600" b="1" dirty="0" smtClean="0"/>
              <a:t>SCORING </a:t>
            </a:r>
            <a:r>
              <a:rPr sz="1600" b="1" dirty="0"/>
              <a:t>METHODOLOGY (0-100 Scale):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Energy </a:t>
            </a:r>
            <a:r>
              <a:rPr sz="1600" dirty="0"/>
              <a:t>Efficiency (25%): Renewable energy usage, energy consumption patterns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Water </a:t>
            </a:r>
            <a:r>
              <a:rPr sz="1600" dirty="0"/>
              <a:t>Management (20%): Water conservation, recycling, efficiency measures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Waste </a:t>
            </a:r>
            <a:r>
              <a:rPr sz="1600" dirty="0"/>
              <a:t>Management (20%): Waste reduction, recycling, circular economy practices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Transportation </a:t>
            </a:r>
            <a:r>
              <a:rPr sz="1600" dirty="0"/>
              <a:t>(15%): Green transport, logistics optimization, fuel efficiency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Materials </a:t>
            </a:r>
            <a:r>
              <a:rPr sz="1600" dirty="0"/>
              <a:t>&amp; Supply Chain (10%): Sustainable sourcing, material efficiency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ESG </a:t>
            </a:r>
            <a:r>
              <a:rPr sz="1600" dirty="0"/>
              <a:t>Compliance (10%): Regulatory compliance, reporting accuracy</a:t>
            </a:r>
          </a:p>
          <a:p>
            <a:endParaRPr sz="1600" dirty="0"/>
          </a:p>
          <a:p>
            <a:r>
              <a:rPr sz="1600" b="1" dirty="0"/>
              <a:t>REAL-TIME MONITORING: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Continuous </a:t>
            </a:r>
            <a:r>
              <a:rPr sz="1600" dirty="0"/>
              <a:t>data collection from SMS, emails, and </a:t>
            </a:r>
            <a:r>
              <a:rPr sz="1600" dirty="0" err="1"/>
              <a:t>IoT</a:t>
            </a:r>
            <a:r>
              <a:rPr sz="1600" dirty="0"/>
              <a:t> devices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AI-powered </a:t>
            </a:r>
            <a:r>
              <a:rPr sz="1600" dirty="0"/>
              <a:t>transaction analysis and categorization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Automated </a:t>
            </a:r>
            <a:r>
              <a:rPr sz="1600" dirty="0"/>
              <a:t>carbon footprint calculation and </a:t>
            </a:r>
            <a:r>
              <a:rPr sz="1600" dirty="0" smtClean="0"/>
              <a:t>tracking</a:t>
            </a:r>
            <a:r>
              <a:rPr lang="en-US" sz="1600" dirty="0" smtClean="0"/>
              <a:t>, </a:t>
            </a:r>
            <a:r>
              <a:rPr sz="1600" dirty="0" smtClean="0"/>
              <a:t>Predictive </a:t>
            </a:r>
            <a:r>
              <a:rPr sz="1600" dirty="0"/>
              <a:t>analytics for future performance</a:t>
            </a:r>
          </a:p>
          <a:p>
            <a:endParaRPr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797283" cy="1320800"/>
          </a:xfrm>
        </p:spPr>
        <p:txBody>
          <a:bodyPr/>
          <a:lstStyle/>
          <a:p>
            <a:r>
              <a:rPr dirty="0"/>
              <a:t>Carbon Intelligence Scoring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516778"/>
            <a:ext cx="7181462" cy="4044267"/>
          </a:xfrm>
        </p:spPr>
        <p:txBody>
          <a:bodyPr>
            <a:normAutofit/>
          </a:bodyPr>
          <a:lstStyle/>
          <a:p>
            <a:r>
              <a:rPr lang="en-US" sz="1600" b="1" dirty="0"/>
              <a:t>RISK ASSESSMENT INTEGRATION: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 smtClean="0"/>
              <a:t>Carbon </a:t>
            </a:r>
            <a:r>
              <a:rPr lang="en-US" sz="1600" dirty="0"/>
              <a:t>score directly correlates with credit risk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 smtClean="0"/>
              <a:t>Higher </a:t>
            </a:r>
            <a:r>
              <a:rPr lang="en-US" sz="1600" dirty="0"/>
              <a:t>scores = Lower default probability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 smtClean="0"/>
              <a:t>Sustainability </a:t>
            </a:r>
            <a:r>
              <a:rPr lang="en-US" sz="1600" dirty="0"/>
              <a:t>trends predict business viability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 smtClean="0"/>
              <a:t>Early </a:t>
            </a:r>
            <a:r>
              <a:rPr lang="en-US" sz="1600" dirty="0"/>
              <a:t>warning system for environmental risks</a:t>
            </a:r>
          </a:p>
          <a:p>
            <a:endParaRPr lang="en-US" sz="1600" dirty="0"/>
          </a:p>
          <a:p>
            <a:r>
              <a:rPr lang="en-US" sz="1600" b="1" dirty="0"/>
              <a:t>SCORING BENEFITS: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 smtClean="0"/>
              <a:t>85</a:t>
            </a:r>
            <a:r>
              <a:rPr lang="en-US" sz="1600" dirty="0"/>
              <a:t>% accuracy in predicting MSME sustainability performance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 smtClean="0"/>
              <a:t>40</a:t>
            </a:r>
            <a:r>
              <a:rPr lang="en-US" sz="1600" dirty="0"/>
              <a:t>% reduction in manual ESG assessment time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 smtClean="0"/>
              <a:t>Real-time </a:t>
            </a:r>
            <a:r>
              <a:rPr lang="en-US" sz="1600" dirty="0"/>
              <a:t>risk monitoring and alerts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 smtClean="0"/>
              <a:t>Automated </a:t>
            </a:r>
            <a:r>
              <a:rPr lang="en-US" sz="1600" dirty="0"/>
              <a:t>compliance reporting and documentation</a:t>
            </a:r>
          </a:p>
        </p:txBody>
      </p:sp>
    </p:spTree>
    <p:extLst>
      <p:ext uri="{BB962C8B-B14F-4D97-AF65-F5344CB8AC3E}">
        <p14:creationId xmlns:p14="http://schemas.microsoft.com/office/powerpoint/2010/main" val="3269390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 smtClean="0"/>
              <a:t>Green </a:t>
            </a:r>
            <a:r>
              <a:rPr lang="en-US" dirty="0"/>
              <a:t>Loan Products &amp; Benefits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615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8030548" cy="1320800"/>
          </a:xfrm>
        </p:spPr>
        <p:txBody>
          <a:bodyPr/>
          <a:lstStyle/>
          <a:p>
            <a:r>
              <a:rPr dirty="0"/>
              <a:t>Green Loan Products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330162"/>
            <a:ext cx="6347714" cy="3880773"/>
          </a:xfrm>
        </p:spPr>
        <p:txBody>
          <a:bodyPr>
            <a:noAutofit/>
          </a:bodyPr>
          <a:lstStyle/>
          <a:p>
            <a:r>
              <a:rPr sz="1600" b="1" dirty="0" smtClean="0"/>
              <a:t>CARBON </a:t>
            </a:r>
            <a:r>
              <a:rPr sz="1600" b="1" dirty="0"/>
              <a:t>INTELLIGENCE GREEN LOANS: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Interest </a:t>
            </a:r>
            <a:r>
              <a:rPr sz="1600" dirty="0"/>
              <a:t>Rate: 1-3% below standard rates based on carbon score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Loan </a:t>
            </a:r>
            <a:r>
              <a:rPr sz="1600" dirty="0"/>
              <a:t>Amount: Up to ₹5 crores for high-scoring MSMEs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Processing </a:t>
            </a:r>
            <a:r>
              <a:rPr sz="1600" dirty="0"/>
              <a:t>Time: 24-48 hours (vs 7-14 days standard)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Collateral</a:t>
            </a:r>
            <a:r>
              <a:rPr sz="1600" dirty="0"/>
              <a:t>: Reduced requirements for high carbon scores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Tenure</a:t>
            </a:r>
            <a:r>
              <a:rPr sz="1600" dirty="0"/>
              <a:t>: Extended repayment periods for green investments</a:t>
            </a:r>
          </a:p>
          <a:p>
            <a:endParaRPr sz="1600" dirty="0"/>
          </a:p>
          <a:p>
            <a:r>
              <a:rPr sz="1600" b="1" dirty="0"/>
              <a:t>SCORING-BASED TIERS: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Platinum </a:t>
            </a:r>
            <a:r>
              <a:rPr sz="1600" dirty="0"/>
              <a:t>(90-100): 3% rate reduction, highest loan amounts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Gold </a:t>
            </a:r>
            <a:r>
              <a:rPr sz="1600" dirty="0"/>
              <a:t>(80-89): 2% rate reduction, priority processing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Silver </a:t>
            </a:r>
            <a:r>
              <a:rPr sz="1600" dirty="0"/>
              <a:t>(70-79): 1% rate reduction, standard processing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Bronze </a:t>
            </a:r>
            <a:r>
              <a:rPr sz="1600" dirty="0"/>
              <a:t>(60-69): 0.5% rate reduction, basic processing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Below </a:t>
            </a:r>
            <a:r>
              <a:rPr sz="1600" dirty="0"/>
              <a:t>60: Standard rates with sustainability improvement </a:t>
            </a:r>
            <a:r>
              <a:rPr sz="1600" dirty="0" smtClean="0"/>
              <a:t>plan</a:t>
            </a:r>
            <a:endParaRPr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8030548" cy="1320800"/>
          </a:xfrm>
        </p:spPr>
        <p:txBody>
          <a:bodyPr/>
          <a:lstStyle/>
          <a:p>
            <a:r>
              <a:rPr dirty="0"/>
              <a:t>Green Loan Products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414141"/>
            <a:ext cx="6347714" cy="3880773"/>
          </a:xfrm>
        </p:spPr>
        <p:txBody>
          <a:bodyPr>
            <a:noAutofit/>
          </a:bodyPr>
          <a:lstStyle/>
          <a:p>
            <a:r>
              <a:rPr sz="1600" b="1" dirty="0" smtClean="0"/>
              <a:t>SPECIALIZED </a:t>
            </a:r>
            <a:r>
              <a:rPr sz="1600" b="1" dirty="0"/>
              <a:t>PRODUCTS:</a:t>
            </a:r>
          </a:p>
          <a:p>
            <a:r>
              <a:rPr sz="1600" dirty="0" smtClean="0"/>
              <a:t>Solar </a:t>
            </a:r>
            <a:r>
              <a:rPr sz="1600" dirty="0"/>
              <a:t>Energy Loans: Up to ₹2 crores at 8-10% </a:t>
            </a:r>
            <a:r>
              <a:rPr sz="1600" dirty="0" smtClean="0"/>
              <a:t>interest</a:t>
            </a:r>
          </a:p>
          <a:p>
            <a:r>
              <a:rPr sz="1600" dirty="0" smtClean="0"/>
              <a:t>Energy </a:t>
            </a:r>
            <a:r>
              <a:rPr sz="1600" dirty="0"/>
              <a:t>Efficiency Loans: Equipment financing at 9-11%</a:t>
            </a:r>
          </a:p>
          <a:p>
            <a:r>
              <a:rPr sz="1600" dirty="0" smtClean="0"/>
              <a:t>Water </a:t>
            </a:r>
            <a:r>
              <a:rPr sz="1600" dirty="0"/>
              <a:t>Conservation Loans: Infrastructure at 10-12%</a:t>
            </a:r>
          </a:p>
          <a:p>
            <a:r>
              <a:rPr sz="1600" dirty="0" smtClean="0"/>
              <a:t>Waste </a:t>
            </a:r>
            <a:r>
              <a:rPr sz="1600" dirty="0"/>
              <a:t>Management Loans: Technology at 11-13%</a:t>
            </a:r>
          </a:p>
          <a:p>
            <a:r>
              <a:rPr sz="1600" dirty="0" smtClean="0"/>
              <a:t>Carbon </a:t>
            </a:r>
            <a:r>
              <a:rPr sz="1600" dirty="0"/>
              <a:t>Credit Financing: Working capital for carbon projects</a:t>
            </a:r>
          </a:p>
          <a:p>
            <a:endParaRPr sz="1600" dirty="0"/>
          </a:p>
          <a:p>
            <a:r>
              <a:rPr sz="1600" b="1" dirty="0"/>
              <a:t>ADDITIONAL BENEFITS:</a:t>
            </a:r>
          </a:p>
          <a:p>
            <a:r>
              <a:rPr sz="1600" dirty="0" smtClean="0"/>
              <a:t>Free </a:t>
            </a:r>
            <a:r>
              <a:rPr sz="1600" dirty="0"/>
              <a:t>sustainability consulting and reporting</a:t>
            </a:r>
          </a:p>
          <a:p>
            <a:r>
              <a:rPr sz="1600" dirty="0" smtClean="0"/>
              <a:t>Carbon </a:t>
            </a:r>
            <a:r>
              <a:rPr sz="1600" dirty="0"/>
              <a:t>credit trading platform access</a:t>
            </a:r>
          </a:p>
          <a:p>
            <a:r>
              <a:rPr sz="1600" dirty="0" smtClean="0"/>
              <a:t>ESG </a:t>
            </a:r>
            <a:r>
              <a:rPr sz="1600" dirty="0"/>
              <a:t>compliance support and documentation</a:t>
            </a:r>
          </a:p>
          <a:p>
            <a:r>
              <a:rPr sz="1600" dirty="0" smtClean="0"/>
              <a:t>Industry </a:t>
            </a:r>
            <a:r>
              <a:rPr sz="1600" dirty="0"/>
              <a:t>benchmarking and improvement recommendations</a:t>
            </a:r>
          </a:p>
          <a:p>
            <a:r>
              <a:rPr sz="1600" dirty="0" smtClean="0"/>
              <a:t>Priority </a:t>
            </a:r>
            <a:r>
              <a:rPr sz="1600" dirty="0"/>
              <a:t>customer support and relationship management</a:t>
            </a:r>
          </a:p>
        </p:txBody>
      </p:sp>
    </p:spTree>
    <p:extLst>
      <p:ext uri="{BB962C8B-B14F-4D97-AF65-F5344CB8AC3E}">
        <p14:creationId xmlns:p14="http://schemas.microsoft.com/office/powerpoint/2010/main" val="2900004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Advanced Risk Assessment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102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8459756" cy="1320800"/>
          </a:xfrm>
        </p:spPr>
        <p:txBody>
          <a:bodyPr>
            <a:normAutofit/>
          </a:bodyPr>
          <a:lstStyle/>
          <a:p>
            <a:r>
              <a:rPr dirty="0"/>
              <a:t>Advanced Risk Assessment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488786"/>
            <a:ext cx="8301136" cy="3880773"/>
          </a:xfrm>
        </p:spPr>
        <p:txBody>
          <a:bodyPr>
            <a:noAutofit/>
          </a:bodyPr>
          <a:lstStyle/>
          <a:p>
            <a:r>
              <a:rPr sz="1600" b="1" dirty="0" smtClean="0"/>
              <a:t>RISK </a:t>
            </a:r>
            <a:r>
              <a:rPr sz="1600" b="1" dirty="0"/>
              <a:t>SCORING MATRIX: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Carbon </a:t>
            </a:r>
            <a:r>
              <a:rPr sz="1600" dirty="0"/>
              <a:t>Score (40%): Primary sustainability performance indicator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Financial </a:t>
            </a:r>
            <a:r>
              <a:rPr sz="1600" dirty="0"/>
              <a:t>Health (30%): Traditional financial metrics and ratios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Industry </a:t>
            </a:r>
            <a:r>
              <a:rPr sz="1600" dirty="0"/>
              <a:t>Risk (15%): Sector-specific environmental regulations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Management </a:t>
            </a:r>
            <a:r>
              <a:rPr sz="1600" dirty="0"/>
              <a:t>Quality (10%): Leadership commitment to sustainability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Market </a:t>
            </a:r>
            <a:r>
              <a:rPr sz="1600" dirty="0"/>
              <a:t>Position (5%): Competitive advantage in green practices</a:t>
            </a:r>
          </a:p>
          <a:p>
            <a:endParaRPr sz="1600" dirty="0"/>
          </a:p>
          <a:p>
            <a:r>
              <a:rPr sz="1600" b="1" dirty="0"/>
              <a:t>PREDICTIVE RISK MODELING: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Machine </a:t>
            </a:r>
            <a:r>
              <a:rPr sz="1600" dirty="0"/>
              <a:t>learning algorithms analyze historical data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Predict </a:t>
            </a:r>
            <a:r>
              <a:rPr sz="1600" dirty="0"/>
              <a:t>default probability based on carbon trends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Early </a:t>
            </a:r>
            <a:r>
              <a:rPr sz="1600" dirty="0"/>
              <a:t>warning system for sustainability risks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Automated </a:t>
            </a:r>
            <a:r>
              <a:rPr sz="1600" dirty="0"/>
              <a:t>risk monitoring and alerts</a:t>
            </a:r>
          </a:p>
          <a:p>
            <a:pPr marL="0" indent="0">
              <a:buNone/>
            </a:pPr>
            <a:endParaRPr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8459756" cy="1320800"/>
          </a:xfrm>
        </p:spPr>
        <p:txBody>
          <a:bodyPr>
            <a:normAutofit/>
          </a:bodyPr>
          <a:lstStyle/>
          <a:p>
            <a:r>
              <a:rPr dirty="0"/>
              <a:t>Advanced Risk Assessment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488786"/>
            <a:ext cx="8459756" cy="3880773"/>
          </a:xfrm>
        </p:spPr>
        <p:txBody>
          <a:bodyPr>
            <a:noAutofit/>
          </a:bodyPr>
          <a:lstStyle/>
          <a:p>
            <a:r>
              <a:rPr sz="1600" b="1" dirty="0" smtClean="0"/>
              <a:t>RISK </a:t>
            </a:r>
            <a:r>
              <a:rPr sz="1600" b="1" dirty="0"/>
              <a:t>MITIGATION STRATEGIES: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Real-time </a:t>
            </a:r>
            <a:r>
              <a:rPr sz="1600" dirty="0"/>
              <a:t>monitoring of carbon score </a:t>
            </a:r>
            <a:r>
              <a:rPr sz="1600" dirty="0" smtClean="0"/>
              <a:t>changes</a:t>
            </a:r>
            <a:r>
              <a:rPr lang="en-US" sz="1600" dirty="0" smtClean="0"/>
              <a:t>, </a:t>
            </a:r>
            <a:r>
              <a:rPr sz="1600" dirty="0" smtClean="0"/>
              <a:t>Automated </a:t>
            </a:r>
            <a:r>
              <a:rPr sz="1600" dirty="0"/>
              <a:t>alerts for score deterioration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Proactive </a:t>
            </a:r>
            <a:r>
              <a:rPr sz="1600" dirty="0"/>
              <a:t>intervention and support </a:t>
            </a:r>
            <a:r>
              <a:rPr sz="1600" dirty="0" smtClean="0"/>
              <a:t>programs</a:t>
            </a:r>
            <a:r>
              <a:rPr lang="en-US" sz="1600" dirty="0" smtClean="0"/>
              <a:t>, </a:t>
            </a:r>
            <a:r>
              <a:rPr sz="1600" dirty="0" smtClean="0"/>
              <a:t>Sustainability </a:t>
            </a:r>
            <a:r>
              <a:rPr sz="1600" dirty="0"/>
              <a:t>improvement plans for low </a:t>
            </a:r>
            <a:r>
              <a:rPr sz="1600" dirty="0" smtClean="0"/>
              <a:t>scores</a:t>
            </a:r>
            <a:r>
              <a:rPr lang="en-US" sz="1600" dirty="0" smtClean="0"/>
              <a:t>. </a:t>
            </a:r>
            <a:r>
              <a:rPr sz="1600" dirty="0" smtClean="0"/>
              <a:t>Regular </a:t>
            </a:r>
            <a:r>
              <a:rPr sz="1600" dirty="0"/>
              <a:t>risk assessment and portfolio review</a:t>
            </a:r>
          </a:p>
          <a:p>
            <a:endParaRPr sz="1600" dirty="0"/>
          </a:p>
          <a:p>
            <a:r>
              <a:rPr sz="1600" b="1" dirty="0"/>
              <a:t>PROVEN RISK REDUCTION: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45</a:t>
            </a:r>
            <a:r>
              <a:rPr sz="1600" dirty="0"/>
              <a:t>% lower default rate for high carbon score MSMEs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60</a:t>
            </a:r>
            <a:r>
              <a:rPr sz="1600" dirty="0"/>
              <a:t>% faster identification of at-risk accounts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35</a:t>
            </a:r>
            <a:r>
              <a:rPr sz="1600" dirty="0"/>
              <a:t>% reduction in loan loss provisions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50</a:t>
            </a:r>
            <a:r>
              <a:rPr sz="1600" dirty="0"/>
              <a:t>% improvement in portfolio quality metrics</a:t>
            </a:r>
          </a:p>
          <a:p>
            <a:endParaRPr sz="1600" dirty="0"/>
          </a:p>
          <a:p>
            <a:r>
              <a:rPr sz="1600" b="1" dirty="0"/>
              <a:t>COMPLIANCE &amp; REGULATORY: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Automated </a:t>
            </a:r>
            <a:r>
              <a:rPr sz="1600" dirty="0"/>
              <a:t>ESG reporting and </a:t>
            </a:r>
            <a:r>
              <a:rPr sz="1600" dirty="0" smtClean="0"/>
              <a:t>documentation</a:t>
            </a:r>
            <a:r>
              <a:rPr lang="en-US" sz="1600" dirty="0" smtClean="0"/>
              <a:t>, </a:t>
            </a:r>
            <a:r>
              <a:rPr sz="1600" dirty="0" smtClean="0"/>
              <a:t>Regulatory </a:t>
            </a:r>
            <a:r>
              <a:rPr sz="1600" dirty="0"/>
              <a:t>compliance monitoring and </a:t>
            </a:r>
            <a:r>
              <a:rPr sz="1600" dirty="0" smtClean="0"/>
              <a:t>alerts</a:t>
            </a:r>
            <a:r>
              <a:rPr lang="en-US" sz="1600" dirty="0" smtClean="0"/>
              <a:t>, </a:t>
            </a:r>
            <a:r>
              <a:rPr sz="1600" dirty="0" smtClean="0"/>
              <a:t>Audit </a:t>
            </a:r>
            <a:r>
              <a:rPr sz="1600" dirty="0"/>
              <a:t>trail maintenance and </a:t>
            </a:r>
            <a:r>
              <a:rPr sz="1600" dirty="0" smtClean="0"/>
              <a:t>reporting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3103753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Carbon Trading &amp; Offset Mechanisms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92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8189168" cy="1320800"/>
          </a:xfrm>
        </p:spPr>
        <p:txBody>
          <a:bodyPr>
            <a:normAutofit/>
          </a:bodyPr>
          <a:lstStyle/>
          <a:p>
            <a:r>
              <a:rPr dirty="0"/>
              <a:t>Carbon Trading &amp; Offset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460794"/>
            <a:ext cx="6347714" cy="3880773"/>
          </a:xfrm>
        </p:spPr>
        <p:txBody>
          <a:bodyPr>
            <a:noAutofit/>
          </a:bodyPr>
          <a:lstStyle/>
          <a:p>
            <a:r>
              <a:rPr sz="1600" dirty="0" smtClean="0"/>
              <a:t>CARBON </a:t>
            </a:r>
            <a:r>
              <a:rPr sz="1600" dirty="0"/>
              <a:t>CREDIT MARKETPLACE: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Automated </a:t>
            </a:r>
            <a:r>
              <a:rPr sz="1600" dirty="0"/>
              <a:t>offset purchasing and management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Portfolio </a:t>
            </a:r>
            <a:r>
              <a:rPr sz="1600" dirty="0"/>
              <a:t>tracking and performance analytics</a:t>
            </a:r>
          </a:p>
          <a:p>
            <a:endParaRPr sz="1600" dirty="0" smtClean="0"/>
          </a:p>
          <a:p>
            <a:r>
              <a:rPr sz="1600" dirty="0" smtClean="0"/>
              <a:t>OFFSET </a:t>
            </a:r>
            <a:r>
              <a:rPr sz="1600" dirty="0"/>
              <a:t>OPPORTUNITIES: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Renewable </a:t>
            </a:r>
            <a:r>
              <a:rPr sz="1600" dirty="0"/>
              <a:t>Energy Projects: Solar, wind, hydro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Reforestation </a:t>
            </a:r>
            <a:r>
              <a:rPr sz="1600" dirty="0"/>
              <a:t>&amp; Afforestation: Carbon sequestration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Energy </a:t>
            </a:r>
            <a:r>
              <a:rPr sz="1600" dirty="0"/>
              <a:t>Efficiency: Building and industrial efficiency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Waste </a:t>
            </a:r>
            <a:r>
              <a:rPr sz="1600" dirty="0"/>
              <a:t>Management: Methane capture and utilization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Transportation</a:t>
            </a:r>
            <a:r>
              <a:rPr sz="1600" dirty="0"/>
              <a:t>: Electric vehicle and fuel efficiency</a:t>
            </a:r>
          </a:p>
          <a:p>
            <a:endParaRPr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8189168" cy="1320800"/>
          </a:xfrm>
        </p:spPr>
        <p:txBody>
          <a:bodyPr>
            <a:normAutofit/>
          </a:bodyPr>
          <a:lstStyle/>
          <a:p>
            <a:r>
              <a:rPr dirty="0"/>
              <a:t>Carbon Trading &amp; Offset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460794"/>
            <a:ext cx="8403772" cy="3880773"/>
          </a:xfrm>
        </p:spPr>
        <p:txBody>
          <a:bodyPr>
            <a:noAutofit/>
          </a:bodyPr>
          <a:lstStyle/>
          <a:p>
            <a:r>
              <a:rPr sz="1600" dirty="0" smtClean="0"/>
              <a:t>FINANCIAL </a:t>
            </a:r>
            <a:r>
              <a:rPr sz="1600" dirty="0"/>
              <a:t>BENEFITS: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Additional </a:t>
            </a:r>
            <a:r>
              <a:rPr sz="1600" dirty="0"/>
              <a:t>revenue stream for </a:t>
            </a:r>
            <a:r>
              <a:rPr sz="1600" dirty="0" smtClean="0"/>
              <a:t>MSMEs</a:t>
            </a:r>
            <a:r>
              <a:rPr lang="en-US" sz="1600" dirty="0" smtClean="0"/>
              <a:t>. </a:t>
            </a:r>
            <a:r>
              <a:rPr sz="1600" dirty="0" smtClean="0"/>
              <a:t>Carbon </a:t>
            </a:r>
            <a:r>
              <a:rPr sz="1600" dirty="0"/>
              <a:t>credit financing and working capital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Offset </a:t>
            </a:r>
            <a:r>
              <a:rPr sz="1600" dirty="0"/>
              <a:t>remaining emissions cost-effectively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Enhanced </a:t>
            </a:r>
            <a:r>
              <a:rPr sz="1600" dirty="0"/>
              <a:t>sustainability credentials and market position</a:t>
            </a:r>
          </a:p>
          <a:p>
            <a:endParaRPr sz="1600" dirty="0"/>
          </a:p>
          <a:p>
            <a:r>
              <a:rPr sz="1600" dirty="0"/>
              <a:t>BANKING INTEGRATION: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Carbon </a:t>
            </a:r>
            <a:r>
              <a:rPr sz="1600" dirty="0"/>
              <a:t>credit-backed loans and financing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Carbon </a:t>
            </a:r>
            <a:r>
              <a:rPr sz="1600" dirty="0"/>
              <a:t>credit trading commissions (2-5%)</a:t>
            </a:r>
          </a:p>
          <a:p>
            <a:endParaRPr sz="1600" dirty="0"/>
          </a:p>
          <a:p>
            <a:r>
              <a:rPr sz="1600" dirty="0"/>
              <a:t>REGULATORY COMPLIANCE: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Verified </a:t>
            </a:r>
            <a:r>
              <a:rPr sz="1600" dirty="0"/>
              <a:t>Carbon Standard (VCS) </a:t>
            </a:r>
            <a:r>
              <a:rPr sz="1600" dirty="0" smtClean="0"/>
              <a:t>compliance</a:t>
            </a:r>
            <a:r>
              <a:rPr lang="en-US" sz="1600" dirty="0" smtClean="0"/>
              <a:t>, </a:t>
            </a:r>
            <a:r>
              <a:rPr sz="1600" dirty="0" smtClean="0"/>
              <a:t>Gold </a:t>
            </a:r>
            <a:r>
              <a:rPr sz="1600" dirty="0"/>
              <a:t>Standard certification support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CDM </a:t>
            </a:r>
            <a:r>
              <a:rPr sz="1600" dirty="0"/>
              <a:t>(Clean Development Mechanism) projects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Local </a:t>
            </a:r>
            <a:r>
              <a:rPr sz="1600" dirty="0"/>
              <a:t>carbon market regulations and compliance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International </a:t>
            </a:r>
            <a:r>
              <a:rPr sz="1600" dirty="0"/>
              <a:t>carbon trading standards</a:t>
            </a:r>
          </a:p>
        </p:txBody>
      </p:sp>
    </p:spTree>
    <p:extLst>
      <p:ext uri="{BB962C8B-B14F-4D97-AF65-F5344CB8AC3E}">
        <p14:creationId xmlns:p14="http://schemas.microsoft.com/office/powerpoint/2010/main" val="1807712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ROI &amp; Financial Projections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81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ROI &amp; 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236" y="1358157"/>
            <a:ext cx="6347714" cy="3880773"/>
          </a:xfrm>
        </p:spPr>
        <p:txBody>
          <a:bodyPr>
            <a:noAutofit/>
          </a:bodyPr>
          <a:lstStyle/>
          <a:p>
            <a:r>
              <a:rPr sz="1600" b="1" dirty="0" smtClean="0"/>
              <a:t>REVENUE </a:t>
            </a:r>
            <a:r>
              <a:rPr sz="1600" b="1" dirty="0"/>
              <a:t>OPPORTUNITIES (3-Year Projection):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Green </a:t>
            </a:r>
            <a:r>
              <a:rPr sz="1600" dirty="0"/>
              <a:t>Loan Origination: ₹500-800 crores annually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Interest </a:t>
            </a:r>
            <a:r>
              <a:rPr sz="1600" dirty="0"/>
              <a:t>Rate Premium: 1-3% on green loans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Carbon </a:t>
            </a:r>
            <a:r>
              <a:rPr sz="1600" dirty="0"/>
              <a:t>Trading Commissions: ₹50-100 crores annually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Sustainability </a:t>
            </a:r>
            <a:r>
              <a:rPr sz="1600" dirty="0"/>
              <a:t>Advisory: ₹25-50 crores annually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Platform </a:t>
            </a:r>
            <a:r>
              <a:rPr sz="1600" dirty="0"/>
              <a:t>Subscription Fees: ₹10-20 crores annually</a:t>
            </a:r>
          </a:p>
          <a:p>
            <a:endParaRPr sz="1600" dirty="0"/>
          </a:p>
          <a:p>
            <a:r>
              <a:rPr sz="1600" b="1" dirty="0"/>
              <a:t>COST SAVINGS: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50</a:t>
            </a:r>
            <a:r>
              <a:rPr sz="1600" dirty="0"/>
              <a:t>% reduction in manual ESG assessment costs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60</a:t>
            </a:r>
            <a:r>
              <a:rPr sz="1600" dirty="0"/>
              <a:t>% faster loan processing and approval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40</a:t>
            </a:r>
            <a:r>
              <a:rPr sz="1600" dirty="0"/>
              <a:t>% reduction in default rates and provisions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30</a:t>
            </a:r>
            <a:r>
              <a:rPr sz="1600" dirty="0"/>
              <a:t>% improvement in operational efficiency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25</a:t>
            </a:r>
            <a:r>
              <a:rPr sz="1600" dirty="0"/>
              <a:t>% reduction in compliance and reporting </a:t>
            </a:r>
            <a:r>
              <a:rPr sz="1600" dirty="0" smtClean="0"/>
              <a:t>costs</a:t>
            </a:r>
            <a:endParaRPr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ROI &amp; 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236" y="1358157"/>
            <a:ext cx="9026124" cy="3880773"/>
          </a:xfrm>
        </p:spPr>
        <p:txBody>
          <a:bodyPr>
            <a:noAutofit/>
          </a:bodyPr>
          <a:lstStyle/>
          <a:p>
            <a:r>
              <a:rPr sz="1600" b="1" dirty="0" smtClean="0"/>
              <a:t>ROI </a:t>
            </a:r>
            <a:r>
              <a:rPr sz="1600" b="1" dirty="0"/>
              <a:t>PROJECTIONS: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Year </a:t>
            </a:r>
            <a:r>
              <a:rPr sz="1600" dirty="0"/>
              <a:t>1: 20-25% ROI with pilot program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Year </a:t>
            </a:r>
            <a:r>
              <a:rPr sz="1600" dirty="0"/>
              <a:t>2: 35-45% ROI with full rollout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Year </a:t>
            </a:r>
            <a:r>
              <a:rPr sz="1600" dirty="0"/>
              <a:t>3: 50-65% ROI with market expansion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Break-even</a:t>
            </a:r>
            <a:r>
              <a:rPr sz="1600" dirty="0"/>
              <a:t>: 6-9 </a:t>
            </a:r>
            <a:r>
              <a:rPr sz="1600" dirty="0" smtClean="0"/>
              <a:t>months</a:t>
            </a:r>
            <a:r>
              <a:rPr lang="en-US" sz="1600" dirty="0" smtClean="0"/>
              <a:t>, </a:t>
            </a:r>
            <a:r>
              <a:rPr sz="1600" dirty="0" smtClean="0"/>
              <a:t>Payback </a:t>
            </a:r>
            <a:r>
              <a:rPr sz="1600" dirty="0"/>
              <a:t>period: 12-18 months</a:t>
            </a:r>
          </a:p>
          <a:p>
            <a:endParaRPr sz="1600" dirty="0"/>
          </a:p>
          <a:p>
            <a:r>
              <a:rPr sz="1600" b="1" dirty="0"/>
              <a:t>RISK REDUCTION BENEFITS: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45</a:t>
            </a:r>
            <a:r>
              <a:rPr sz="1600" dirty="0"/>
              <a:t>% lower default rate for green loan portfolio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60</a:t>
            </a:r>
            <a:r>
              <a:rPr sz="1600" dirty="0"/>
              <a:t>% faster identification of at-risk </a:t>
            </a:r>
            <a:r>
              <a:rPr sz="1600" dirty="0" smtClean="0"/>
              <a:t>accounts</a:t>
            </a:r>
            <a:r>
              <a:rPr lang="en-US" sz="1600" dirty="0" smtClean="0"/>
              <a:t>, </a:t>
            </a:r>
            <a:r>
              <a:rPr sz="1600" dirty="0" smtClean="0"/>
              <a:t>35</a:t>
            </a:r>
            <a:r>
              <a:rPr sz="1600" dirty="0"/>
              <a:t>% reduction in loan loss provisions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50</a:t>
            </a:r>
            <a:r>
              <a:rPr sz="1600" dirty="0"/>
              <a:t>% improvement in portfolio </a:t>
            </a:r>
            <a:r>
              <a:rPr sz="1600" dirty="0" smtClean="0"/>
              <a:t>quality</a:t>
            </a:r>
            <a:r>
              <a:rPr lang="en-US" sz="1600" dirty="0" smtClean="0"/>
              <a:t>, </a:t>
            </a:r>
            <a:r>
              <a:rPr sz="1600" dirty="0" smtClean="0"/>
              <a:t>40</a:t>
            </a:r>
            <a:r>
              <a:rPr sz="1600" dirty="0"/>
              <a:t>% reduction in regulatory compliance costs</a:t>
            </a:r>
          </a:p>
          <a:p>
            <a:endParaRPr sz="1600" dirty="0"/>
          </a:p>
          <a:p>
            <a:r>
              <a:rPr sz="1600" b="1" dirty="0"/>
              <a:t>MARKET EXPANSION: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25-40</a:t>
            </a:r>
            <a:r>
              <a:rPr sz="1600" dirty="0"/>
              <a:t>% increase in MSME loan </a:t>
            </a:r>
            <a:r>
              <a:rPr sz="1600" dirty="0" smtClean="0"/>
              <a:t>portfolio</a:t>
            </a:r>
            <a:r>
              <a:rPr lang="en-US" sz="1600" dirty="0" smtClean="0"/>
              <a:t>, </a:t>
            </a:r>
            <a:r>
              <a:rPr sz="1600" dirty="0" smtClean="0"/>
              <a:t>30-50</a:t>
            </a:r>
            <a:r>
              <a:rPr sz="1600" dirty="0"/>
              <a:t>% growth in green finance market share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20-30</a:t>
            </a:r>
            <a:r>
              <a:rPr sz="1600" dirty="0"/>
              <a:t>% improvement in customer </a:t>
            </a:r>
            <a:r>
              <a:rPr sz="1600" dirty="0" smtClean="0"/>
              <a:t>retention</a:t>
            </a:r>
            <a:r>
              <a:rPr lang="en-US" sz="1600" dirty="0" smtClean="0"/>
              <a:t>, </a:t>
            </a:r>
            <a:r>
              <a:rPr sz="1600" dirty="0" smtClean="0"/>
              <a:t>15-25</a:t>
            </a:r>
            <a:r>
              <a:rPr sz="1600" dirty="0"/>
              <a:t>% increase in average loan size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10-20</a:t>
            </a:r>
            <a:r>
              <a:rPr sz="1600" dirty="0"/>
              <a:t>% premium on interest rates</a:t>
            </a:r>
          </a:p>
        </p:txBody>
      </p:sp>
    </p:spTree>
    <p:extLst>
      <p:ext uri="{BB962C8B-B14F-4D97-AF65-F5344CB8AC3E}">
        <p14:creationId xmlns:p14="http://schemas.microsoft.com/office/powerpoint/2010/main" val="1706010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 smtClean="0"/>
              <a:t>Implementation Roadmap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23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912" y="1423471"/>
            <a:ext cx="8291805" cy="3880773"/>
          </a:xfrm>
        </p:spPr>
        <p:txBody>
          <a:bodyPr>
            <a:noAutofit/>
          </a:bodyPr>
          <a:lstStyle/>
          <a:p>
            <a:r>
              <a:rPr sz="1600" b="1" dirty="0" smtClean="0"/>
              <a:t>PHASE </a:t>
            </a:r>
            <a:r>
              <a:rPr sz="1600" b="1" dirty="0"/>
              <a:t>1: FOUNDATION (Months 1-3)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Carbon </a:t>
            </a:r>
            <a:r>
              <a:rPr sz="1600" dirty="0"/>
              <a:t>Intelligence platform </a:t>
            </a:r>
            <a:r>
              <a:rPr sz="1600" dirty="0" smtClean="0"/>
              <a:t>integration</a:t>
            </a:r>
            <a:r>
              <a:rPr lang="en-US" sz="1600" dirty="0" smtClean="0"/>
              <a:t> with staff training and certification</a:t>
            </a:r>
            <a:endParaRPr sz="1600" dirty="0"/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API </a:t>
            </a:r>
            <a:r>
              <a:rPr sz="1600" dirty="0"/>
              <a:t>development and testing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Pilot </a:t>
            </a:r>
            <a:r>
              <a:rPr sz="1600" dirty="0"/>
              <a:t>customer selection (100 MSMEs)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Regulatory </a:t>
            </a:r>
            <a:r>
              <a:rPr sz="1600" dirty="0"/>
              <a:t>compliance review and approval</a:t>
            </a:r>
          </a:p>
          <a:p>
            <a:endParaRPr sz="1600" dirty="0"/>
          </a:p>
          <a:p>
            <a:r>
              <a:rPr sz="1600" b="1" dirty="0"/>
              <a:t>PHASE 2: PILOT PROGRAM (Months 4-9)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Launch </a:t>
            </a:r>
            <a:r>
              <a:rPr sz="1600" dirty="0"/>
              <a:t>with 100 selected MSMEs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Green </a:t>
            </a:r>
            <a:r>
              <a:rPr sz="1600" dirty="0"/>
              <a:t>loan product testing and optimization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Carbon </a:t>
            </a:r>
            <a:r>
              <a:rPr sz="1600" dirty="0"/>
              <a:t>trading platform integration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Performance </a:t>
            </a:r>
            <a:r>
              <a:rPr sz="1600" dirty="0"/>
              <a:t>monitoring and analytics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Feedback </a:t>
            </a:r>
            <a:r>
              <a:rPr sz="1600" dirty="0"/>
              <a:t>collection and system </a:t>
            </a:r>
            <a:r>
              <a:rPr sz="1600" dirty="0" smtClean="0"/>
              <a:t>refinemen</a:t>
            </a:r>
            <a:r>
              <a:rPr lang="en-US" sz="1600" dirty="0" smtClean="0"/>
              <a:t>t</a:t>
            </a:r>
            <a:endParaRPr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912" y="1423471"/>
            <a:ext cx="8282475" cy="3880773"/>
          </a:xfrm>
        </p:spPr>
        <p:txBody>
          <a:bodyPr>
            <a:noAutofit/>
          </a:bodyPr>
          <a:lstStyle/>
          <a:p>
            <a:r>
              <a:rPr sz="1600" b="1" dirty="0" smtClean="0"/>
              <a:t>PHASE </a:t>
            </a:r>
            <a:r>
              <a:rPr sz="1600" b="1" dirty="0"/>
              <a:t>3: FULL ROLLOUT (Months 10-18)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Scale </a:t>
            </a:r>
            <a:r>
              <a:rPr sz="1600" dirty="0"/>
              <a:t>to 1,000+ </a:t>
            </a:r>
            <a:r>
              <a:rPr sz="1600" dirty="0" smtClean="0"/>
              <a:t>MSMEs</a:t>
            </a:r>
            <a:r>
              <a:rPr lang="en-US" sz="1600" dirty="0" smtClean="0"/>
              <a:t>, </a:t>
            </a:r>
            <a:r>
              <a:rPr sz="1600" dirty="0" smtClean="0"/>
              <a:t>Complete </a:t>
            </a:r>
            <a:r>
              <a:rPr sz="1600" dirty="0"/>
              <a:t>product suite launch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Advanced </a:t>
            </a:r>
            <a:r>
              <a:rPr sz="1600" dirty="0"/>
              <a:t>analytics and AI </a:t>
            </a:r>
            <a:r>
              <a:rPr sz="1600" dirty="0" smtClean="0"/>
              <a:t>features</a:t>
            </a:r>
            <a:r>
              <a:rPr lang="en-US" sz="1600" dirty="0" smtClean="0"/>
              <a:t>, </a:t>
            </a:r>
            <a:r>
              <a:rPr sz="1600" dirty="0" smtClean="0"/>
              <a:t>Marketing </a:t>
            </a:r>
            <a:r>
              <a:rPr sz="1600" dirty="0"/>
              <a:t>and customer </a:t>
            </a:r>
            <a:r>
              <a:rPr sz="1600" dirty="0" smtClean="0"/>
              <a:t>acquisition</a:t>
            </a:r>
            <a:r>
              <a:rPr lang="en-US" sz="1600" dirty="0" smtClean="0"/>
              <a:t>, </a:t>
            </a:r>
            <a:r>
              <a:rPr sz="1600" dirty="0" smtClean="0"/>
              <a:t>Performance </a:t>
            </a:r>
            <a:r>
              <a:rPr sz="1600" dirty="0"/>
              <a:t>optimization and scaling</a:t>
            </a:r>
          </a:p>
          <a:p>
            <a:endParaRPr sz="1600" dirty="0"/>
          </a:p>
          <a:p>
            <a:r>
              <a:rPr sz="1600" b="1" dirty="0"/>
              <a:t>PHASE 4: EXPANSION (Months 19-24)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Scale </a:t>
            </a:r>
            <a:r>
              <a:rPr sz="1600" dirty="0"/>
              <a:t>to 5,000+ </a:t>
            </a:r>
            <a:r>
              <a:rPr sz="1600" dirty="0" smtClean="0"/>
              <a:t>MSMEs</a:t>
            </a:r>
            <a:r>
              <a:rPr lang="en-US" sz="1600" dirty="0" smtClean="0"/>
              <a:t>, </a:t>
            </a:r>
            <a:r>
              <a:rPr sz="1600" dirty="0" smtClean="0"/>
              <a:t>Advanced </a:t>
            </a:r>
            <a:r>
              <a:rPr sz="1600" dirty="0"/>
              <a:t>AI features and automation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Carbon </a:t>
            </a:r>
            <a:r>
              <a:rPr sz="1600" dirty="0"/>
              <a:t>trading marketplace </a:t>
            </a:r>
            <a:r>
              <a:rPr sz="1600" dirty="0" smtClean="0"/>
              <a:t>expansion</a:t>
            </a:r>
            <a:r>
              <a:rPr lang="en-US" sz="1600" dirty="0" smtClean="0"/>
              <a:t>, </a:t>
            </a:r>
            <a:r>
              <a:rPr sz="1600" dirty="0" smtClean="0"/>
              <a:t>International </a:t>
            </a:r>
            <a:r>
              <a:rPr sz="1600" dirty="0"/>
              <a:t>market entry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Innovation </a:t>
            </a:r>
            <a:r>
              <a:rPr sz="1600" dirty="0"/>
              <a:t>and R&amp;D initiatives</a:t>
            </a:r>
          </a:p>
          <a:p>
            <a:endParaRPr sz="1600" dirty="0"/>
          </a:p>
          <a:p>
            <a:r>
              <a:rPr sz="1600" b="1" dirty="0"/>
              <a:t>SUCCESS METRICS: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Customer </a:t>
            </a:r>
            <a:r>
              <a:rPr sz="1600" dirty="0"/>
              <a:t>acquisition rate and </a:t>
            </a:r>
            <a:r>
              <a:rPr sz="1600" dirty="0" smtClean="0"/>
              <a:t>retention</a:t>
            </a:r>
            <a:r>
              <a:rPr lang="en-US" sz="1600" dirty="0" smtClean="0"/>
              <a:t>, </a:t>
            </a:r>
            <a:r>
              <a:rPr sz="1600" dirty="0" smtClean="0"/>
              <a:t>Loan </a:t>
            </a:r>
            <a:r>
              <a:rPr sz="1600" dirty="0"/>
              <a:t>portfolio growth and quality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Revenue </a:t>
            </a:r>
            <a:r>
              <a:rPr sz="1600" dirty="0"/>
              <a:t>per customer and </a:t>
            </a:r>
            <a:r>
              <a:rPr sz="1600" dirty="0" smtClean="0"/>
              <a:t>profitability</a:t>
            </a:r>
            <a:r>
              <a:rPr lang="en-US" sz="1600" dirty="0" smtClean="0"/>
              <a:t>, </a:t>
            </a:r>
            <a:r>
              <a:rPr sz="1600" dirty="0" smtClean="0"/>
              <a:t>Platform </a:t>
            </a:r>
            <a:r>
              <a:rPr sz="1600" dirty="0"/>
              <a:t>adoption and engagement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Customer </a:t>
            </a:r>
            <a:r>
              <a:rPr sz="1600" dirty="0"/>
              <a:t>satisfaction and NPS </a:t>
            </a:r>
            <a:r>
              <a:rPr sz="1600" dirty="0" smtClean="0"/>
              <a:t>scores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38930883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Competitive Advantage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6605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284549"/>
            <a:ext cx="6347714" cy="3880773"/>
          </a:xfrm>
        </p:spPr>
        <p:txBody>
          <a:bodyPr>
            <a:noAutofit/>
          </a:bodyPr>
          <a:lstStyle/>
          <a:p>
            <a:r>
              <a:rPr sz="1600" b="1" dirty="0" smtClean="0"/>
              <a:t>TECHNOLOGY </a:t>
            </a:r>
            <a:r>
              <a:rPr sz="1600" b="1" dirty="0"/>
              <a:t>LEADERSHIP: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First </a:t>
            </a:r>
            <a:r>
              <a:rPr sz="1600" dirty="0"/>
              <a:t>AI-powered Carbon Intelligence Scoring system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Real-time </a:t>
            </a:r>
            <a:r>
              <a:rPr sz="1600" dirty="0"/>
              <a:t>carbon footprint monitoring and analysis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Automated </a:t>
            </a:r>
            <a:r>
              <a:rPr sz="1600" dirty="0"/>
              <a:t>ESG compliance and reporting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Advanced </a:t>
            </a:r>
            <a:r>
              <a:rPr sz="1600" dirty="0"/>
              <a:t>predictive analytics and risk modeling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Mobile-first </a:t>
            </a:r>
            <a:r>
              <a:rPr sz="1600" dirty="0"/>
              <a:t>user experience and accessibility</a:t>
            </a:r>
          </a:p>
          <a:p>
            <a:endParaRPr sz="1600" dirty="0"/>
          </a:p>
          <a:p>
            <a:r>
              <a:rPr sz="1600" b="1" dirty="0"/>
              <a:t>COMPREHENSIVE SOLUTION: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End-to-end </a:t>
            </a:r>
            <a:r>
              <a:rPr sz="1600" dirty="0"/>
              <a:t>sustainability management platform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Integrated </a:t>
            </a:r>
            <a:r>
              <a:rPr sz="1600" dirty="0"/>
              <a:t>carbon trading and offset mechanisms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Professional </a:t>
            </a:r>
            <a:r>
              <a:rPr sz="1600" dirty="0"/>
              <a:t>reporting and documentation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Multi-platform </a:t>
            </a:r>
            <a:r>
              <a:rPr sz="1600" dirty="0"/>
              <a:t>accessibility and integration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Scalable </a:t>
            </a:r>
            <a:r>
              <a:rPr sz="1600" dirty="0"/>
              <a:t>and customizable </a:t>
            </a:r>
            <a:r>
              <a:rPr sz="1600" dirty="0" smtClean="0"/>
              <a:t>architecture</a:t>
            </a:r>
            <a:endParaRPr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284549"/>
            <a:ext cx="8319797" cy="3880773"/>
          </a:xfrm>
        </p:spPr>
        <p:txBody>
          <a:bodyPr>
            <a:noAutofit/>
          </a:bodyPr>
          <a:lstStyle/>
          <a:p>
            <a:r>
              <a:rPr sz="1600" b="1" dirty="0" smtClean="0"/>
              <a:t>REGULATORY </a:t>
            </a:r>
            <a:r>
              <a:rPr sz="1600" b="1" dirty="0"/>
              <a:t>COMPLIANCE: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Built-in </a:t>
            </a:r>
            <a:r>
              <a:rPr sz="1600" dirty="0"/>
              <a:t>ESG reporting frameworks and standards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BRSR </a:t>
            </a:r>
            <a:r>
              <a:rPr sz="1600" dirty="0"/>
              <a:t>compliance automation and monitoring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Carbon </a:t>
            </a:r>
            <a:r>
              <a:rPr sz="1600" dirty="0"/>
              <a:t>credit verification and certification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Regulatory </a:t>
            </a:r>
            <a:r>
              <a:rPr sz="1600" dirty="0"/>
              <a:t>change management and updates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Audit </a:t>
            </a:r>
            <a:r>
              <a:rPr sz="1600" dirty="0"/>
              <a:t>trail maintenance and documentation</a:t>
            </a:r>
          </a:p>
          <a:p>
            <a:endParaRPr sz="1600" dirty="0"/>
          </a:p>
          <a:p>
            <a:r>
              <a:rPr sz="1600" b="1" dirty="0"/>
              <a:t>CUSTOMER EXPERIENCE: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User-friendly </a:t>
            </a:r>
            <a:r>
              <a:rPr sz="1600" dirty="0"/>
              <a:t>interface and mobile app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Real-time </a:t>
            </a:r>
            <a:r>
              <a:rPr sz="1600" dirty="0"/>
              <a:t>data and </a:t>
            </a:r>
            <a:r>
              <a:rPr sz="1600" dirty="0" smtClean="0"/>
              <a:t>insights</a:t>
            </a:r>
            <a:r>
              <a:rPr lang="en-US" sz="1600" dirty="0" smtClean="0"/>
              <a:t>. </a:t>
            </a:r>
            <a:r>
              <a:rPr sz="1600" dirty="0" smtClean="0"/>
              <a:t>Professional </a:t>
            </a:r>
            <a:r>
              <a:rPr sz="1600" dirty="0"/>
              <a:t>support and consulting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Continuous </a:t>
            </a:r>
            <a:r>
              <a:rPr sz="1600" dirty="0"/>
              <a:t>innovation and </a:t>
            </a:r>
            <a:r>
              <a:rPr sz="1600" dirty="0" smtClean="0"/>
              <a:t>updates</a:t>
            </a:r>
            <a:r>
              <a:rPr lang="en-US" sz="1600" dirty="0" smtClean="0"/>
              <a:t>, </a:t>
            </a:r>
            <a:r>
              <a:rPr sz="1600" dirty="0" smtClean="0"/>
              <a:t>Personalized </a:t>
            </a:r>
            <a:r>
              <a:rPr sz="1600" dirty="0"/>
              <a:t>recommendations and guidance</a:t>
            </a:r>
          </a:p>
          <a:p>
            <a:endParaRPr sz="1600" dirty="0"/>
          </a:p>
          <a:p>
            <a:r>
              <a:rPr sz="1600" b="1" dirty="0" smtClean="0"/>
              <a:t>PARTNERSHIP </a:t>
            </a:r>
            <a:r>
              <a:rPr sz="1600" b="1" dirty="0"/>
              <a:t>BENEFITS: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Shared </a:t>
            </a:r>
            <a:r>
              <a:rPr sz="1600" dirty="0"/>
              <a:t>resources and </a:t>
            </a:r>
            <a:r>
              <a:rPr sz="1600" dirty="0" smtClean="0"/>
              <a:t>expertise</a:t>
            </a:r>
            <a:r>
              <a:rPr lang="en-US" sz="1600" dirty="0" smtClean="0"/>
              <a:t>, </a:t>
            </a:r>
            <a:r>
              <a:rPr sz="1600" dirty="0" smtClean="0"/>
              <a:t>Co-marketing </a:t>
            </a:r>
            <a:r>
              <a:rPr sz="1600" dirty="0"/>
              <a:t>and brand recognition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Market </a:t>
            </a:r>
            <a:r>
              <a:rPr sz="1600" dirty="0"/>
              <a:t>expansion and growth</a:t>
            </a:r>
          </a:p>
        </p:txBody>
      </p:sp>
    </p:spTree>
    <p:extLst>
      <p:ext uri="{BB962C8B-B14F-4D97-AF65-F5344CB8AC3E}">
        <p14:creationId xmlns:p14="http://schemas.microsoft.com/office/powerpoint/2010/main" val="29152267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 smtClean="0"/>
              <a:t>Success Stories &amp; Case Studies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615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8282474" cy="1320800"/>
          </a:xfrm>
        </p:spPr>
        <p:txBody>
          <a:bodyPr/>
          <a:lstStyle/>
          <a:p>
            <a:r>
              <a:rPr dirty="0"/>
              <a:t>Success Stories &amp; 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358157"/>
            <a:ext cx="6347714" cy="3880773"/>
          </a:xfrm>
        </p:spPr>
        <p:txBody>
          <a:bodyPr>
            <a:noAutofit/>
          </a:bodyPr>
          <a:lstStyle/>
          <a:p>
            <a:r>
              <a:rPr sz="1600" dirty="0" smtClean="0"/>
              <a:t>CASE </a:t>
            </a:r>
            <a:r>
              <a:rPr sz="1600" dirty="0"/>
              <a:t>STUDY 1: MANUFACTURING MSME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Company</a:t>
            </a:r>
            <a:r>
              <a:rPr sz="1600" dirty="0"/>
              <a:t>: </a:t>
            </a:r>
            <a:r>
              <a:rPr lang="en-US" sz="1600" dirty="0" smtClean="0"/>
              <a:t>XXX</a:t>
            </a:r>
            <a:r>
              <a:rPr sz="1600" dirty="0" smtClean="0"/>
              <a:t> </a:t>
            </a:r>
            <a:r>
              <a:rPr sz="1600" dirty="0"/>
              <a:t>Manufacturing (75 employees)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Industry</a:t>
            </a:r>
            <a:r>
              <a:rPr sz="1600" dirty="0"/>
              <a:t>: Electronics manufacturing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Carbon </a:t>
            </a:r>
            <a:r>
              <a:rPr sz="1600" dirty="0"/>
              <a:t>Score: 85 (Gold tier)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Results</a:t>
            </a:r>
            <a:r>
              <a:rPr sz="1600" dirty="0"/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/>
              <a:t>  - 40% reduction in energy consumption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/>
              <a:t>  - ₹3.2 lakh annual cost savings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/>
              <a:t>  - 50% improvement in ESG score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/>
              <a:t>  - 2.5% reduction in loan interest rate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/>
              <a:t>  - ₹1.5 lakh annual interest savings</a:t>
            </a:r>
          </a:p>
          <a:p>
            <a:endParaRPr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8282474" cy="1320800"/>
          </a:xfrm>
        </p:spPr>
        <p:txBody>
          <a:bodyPr/>
          <a:lstStyle/>
          <a:p>
            <a:r>
              <a:rPr dirty="0"/>
              <a:t>Success Stories &amp; 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358157"/>
            <a:ext cx="6347714" cy="3880773"/>
          </a:xfrm>
        </p:spPr>
        <p:txBody>
          <a:bodyPr>
            <a:noAutofit/>
          </a:bodyPr>
          <a:lstStyle/>
          <a:p>
            <a:r>
              <a:rPr sz="1600" dirty="0" smtClean="0"/>
              <a:t>CASE STUDY 2: TEXTILE MSME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Company: </a:t>
            </a:r>
            <a:r>
              <a:rPr sz="1600" dirty="0" err="1" smtClean="0"/>
              <a:t>GreenTextile</a:t>
            </a:r>
            <a:r>
              <a:rPr sz="1600" dirty="0" smtClean="0"/>
              <a:t> Ltd (100 employees)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Industry: Textile manufacturing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Carbon Score: 78 (Silver tier)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Results: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  - 30% reduction in water usage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  - ₹2.1 lakh annual cost savings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  - 45% improvement in sustainability score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  - Access to carbon credit trading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  - ₹75,000 additional revenue from carbon credits</a:t>
            </a:r>
          </a:p>
          <a:p>
            <a:endParaRPr sz="1600" dirty="0" smtClean="0"/>
          </a:p>
        </p:txBody>
      </p:sp>
    </p:spTree>
    <p:extLst>
      <p:ext uri="{BB962C8B-B14F-4D97-AF65-F5344CB8AC3E}">
        <p14:creationId xmlns:p14="http://schemas.microsoft.com/office/powerpoint/2010/main" val="25379192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8282474" cy="1320800"/>
          </a:xfrm>
        </p:spPr>
        <p:txBody>
          <a:bodyPr/>
          <a:lstStyle/>
          <a:p>
            <a:r>
              <a:rPr dirty="0"/>
              <a:t>Success Stories &amp; 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358157"/>
            <a:ext cx="6347714" cy="3880773"/>
          </a:xfrm>
        </p:spPr>
        <p:txBody>
          <a:bodyPr>
            <a:noAutofit/>
          </a:bodyPr>
          <a:lstStyle/>
          <a:p>
            <a:r>
              <a:rPr sz="1600" dirty="0" smtClean="0"/>
              <a:t>CASE STUDY 3: FOOD PROCESSING MSME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Company: </a:t>
            </a:r>
            <a:r>
              <a:rPr sz="1600" dirty="0" err="1" smtClean="0"/>
              <a:t>FreshFoods</a:t>
            </a:r>
            <a:r>
              <a:rPr sz="1600" dirty="0" smtClean="0"/>
              <a:t> </a:t>
            </a:r>
            <a:r>
              <a:rPr sz="1600" dirty="0" err="1" smtClean="0"/>
              <a:t>Pvt</a:t>
            </a:r>
            <a:r>
              <a:rPr sz="1600" dirty="0" smtClean="0"/>
              <a:t> Ltd (50 employees)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Industry: Food processing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Carbon Score: 72 (Silver tier)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Results: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  - 25% reduction in waste generation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  - ₹1.8 lakh annual cost savings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  - 35% improvement in carbon score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  - Enhanced market reputation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  - 20% increase in customer base</a:t>
            </a:r>
          </a:p>
        </p:txBody>
      </p:sp>
    </p:spTree>
    <p:extLst>
      <p:ext uri="{BB962C8B-B14F-4D97-AF65-F5344CB8AC3E}">
        <p14:creationId xmlns:p14="http://schemas.microsoft.com/office/powerpoint/2010/main" val="15555747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 smtClean="0"/>
              <a:t>Next Steps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046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575" y="1386149"/>
            <a:ext cx="6347714" cy="3880773"/>
          </a:xfrm>
        </p:spPr>
        <p:txBody>
          <a:bodyPr>
            <a:noAutofit/>
          </a:bodyPr>
          <a:lstStyle/>
          <a:p>
            <a:r>
              <a:rPr sz="1600" dirty="0" smtClean="0"/>
              <a:t>1</a:t>
            </a:r>
            <a:r>
              <a:rPr sz="1600" dirty="0"/>
              <a:t>. PARTNERSHIP AGREEMENT: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Review </a:t>
            </a:r>
            <a:r>
              <a:rPr sz="1600" dirty="0"/>
              <a:t>partnership terms and conditions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Finalize </a:t>
            </a:r>
            <a:r>
              <a:rPr sz="1600" dirty="0"/>
              <a:t>revenue sharing model (70% Bank, 30% Carbon Intelligence)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Sign </a:t>
            </a:r>
            <a:r>
              <a:rPr sz="1600" dirty="0"/>
              <a:t>memorandum of understanding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Establish </a:t>
            </a:r>
            <a:r>
              <a:rPr sz="1600" dirty="0"/>
              <a:t>governance structure and committees</a:t>
            </a:r>
          </a:p>
          <a:p>
            <a:endParaRPr sz="1600" dirty="0"/>
          </a:p>
          <a:p>
            <a:r>
              <a:rPr sz="1600" dirty="0"/>
              <a:t>2. TECHNICAL INTEGRATION: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Schedule </a:t>
            </a:r>
            <a:r>
              <a:rPr sz="1600" dirty="0"/>
              <a:t>technical assessment and planning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Plan </a:t>
            </a:r>
            <a:r>
              <a:rPr sz="1600" dirty="0"/>
              <a:t>API integration timeline and milestones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Design </a:t>
            </a:r>
            <a:r>
              <a:rPr sz="1600" dirty="0"/>
              <a:t>custom features and white-label branding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Set </a:t>
            </a:r>
            <a:r>
              <a:rPr sz="1600" dirty="0"/>
              <a:t>up development and testing environment</a:t>
            </a:r>
          </a:p>
          <a:p>
            <a:endParaRPr sz="1600" dirty="0"/>
          </a:p>
          <a:p>
            <a:r>
              <a:rPr sz="1600" dirty="0"/>
              <a:t>3. PILOT PROGRAM SETUP:</a:t>
            </a:r>
          </a:p>
          <a:p>
            <a:r>
              <a:rPr sz="1600" dirty="0" smtClean="0"/>
              <a:t>Select </a:t>
            </a:r>
            <a:r>
              <a:rPr sz="1600" dirty="0"/>
              <a:t>pilot MSME customers (100-200)</a:t>
            </a:r>
          </a:p>
          <a:p>
            <a:r>
              <a:rPr sz="1600" dirty="0" smtClean="0"/>
              <a:t>Train </a:t>
            </a:r>
            <a:r>
              <a:rPr sz="1600" dirty="0"/>
              <a:t>banking staff on Carbon Intelligence platform</a:t>
            </a:r>
          </a:p>
          <a:p>
            <a:r>
              <a:rPr sz="1600" dirty="0" smtClean="0"/>
              <a:t>Launch </a:t>
            </a:r>
            <a:r>
              <a:rPr sz="1600" dirty="0"/>
              <a:t>pilot program with monitoring</a:t>
            </a:r>
          </a:p>
          <a:p>
            <a:r>
              <a:rPr sz="1600" dirty="0" smtClean="0"/>
              <a:t>Collect </a:t>
            </a:r>
            <a:r>
              <a:rPr sz="1600" dirty="0"/>
              <a:t>feedback and optimize performance</a:t>
            </a:r>
          </a:p>
          <a:p>
            <a:endParaRPr sz="1600" dirty="0"/>
          </a:p>
          <a:p>
            <a:r>
              <a:rPr sz="1600" dirty="0"/>
              <a:t>4. MARKETING &amp; LAUNCH:</a:t>
            </a:r>
          </a:p>
          <a:p>
            <a:r>
              <a:rPr sz="1600" dirty="0" smtClean="0"/>
              <a:t>Develop </a:t>
            </a:r>
            <a:r>
              <a:rPr sz="1600" dirty="0"/>
              <a:t>co-marketing strategy and materials</a:t>
            </a:r>
          </a:p>
          <a:p>
            <a:r>
              <a:rPr sz="1600" dirty="0" smtClean="0"/>
              <a:t>Create </a:t>
            </a:r>
            <a:r>
              <a:rPr sz="1600" dirty="0"/>
              <a:t>customer acquisition and retention plan</a:t>
            </a:r>
          </a:p>
          <a:p>
            <a:r>
              <a:rPr sz="1600" dirty="0" smtClean="0"/>
              <a:t>Launch </a:t>
            </a:r>
            <a:r>
              <a:rPr sz="1600" dirty="0"/>
              <a:t>green finance products and services</a:t>
            </a:r>
          </a:p>
          <a:p>
            <a:r>
              <a:rPr sz="1600" dirty="0" smtClean="0"/>
              <a:t>Execute </a:t>
            </a:r>
            <a:r>
              <a:rPr sz="1600" dirty="0"/>
              <a:t>go-to-market strategy and campaigns</a:t>
            </a:r>
          </a:p>
          <a:p>
            <a:endParaRPr sz="1600" dirty="0"/>
          </a:p>
          <a:p>
            <a:r>
              <a:rPr sz="1600" dirty="0"/>
              <a:t>TIMELINE:</a:t>
            </a:r>
          </a:p>
          <a:p>
            <a:r>
              <a:rPr sz="1600" dirty="0" smtClean="0"/>
              <a:t>Week </a:t>
            </a:r>
            <a:r>
              <a:rPr sz="1600" dirty="0"/>
              <a:t>1-2: Partnership agreement finalization</a:t>
            </a:r>
          </a:p>
          <a:p>
            <a:r>
              <a:rPr sz="1600" dirty="0" smtClean="0"/>
              <a:t>Week </a:t>
            </a:r>
            <a:r>
              <a:rPr sz="1600" dirty="0"/>
              <a:t>3-4: Technical integration planning</a:t>
            </a:r>
          </a:p>
          <a:p>
            <a:r>
              <a:rPr sz="1600" dirty="0" smtClean="0"/>
              <a:t>Month </a:t>
            </a:r>
            <a:r>
              <a:rPr sz="1600" dirty="0"/>
              <a:t>2-3: Platform customization and testing</a:t>
            </a:r>
          </a:p>
          <a:p>
            <a:r>
              <a:rPr sz="1600" dirty="0" smtClean="0"/>
              <a:t>Month </a:t>
            </a:r>
            <a:r>
              <a:rPr sz="1600" dirty="0"/>
              <a:t>4-6: Pilot program execution</a:t>
            </a:r>
          </a:p>
          <a:p>
            <a:r>
              <a:rPr sz="1600" dirty="0" smtClean="0"/>
              <a:t>Month </a:t>
            </a:r>
            <a:r>
              <a:rPr sz="1600" dirty="0"/>
              <a:t>7-12: Full rollout and scaling</a:t>
            </a:r>
          </a:p>
          <a:p>
            <a:endParaRPr sz="1600" dirty="0"/>
          </a:p>
          <a:p>
            <a:endParaRPr sz="1600" dirty="0"/>
          </a:p>
          <a:p>
            <a:r>
              <a:rPr sz="1600" dirty="0"/>
              <a:t>READY TO REVOLUTIONIZE GREEN FINANCE?</a:t>
            </a:r>
          </a:p>
          <a:p>
            <a:r>
              <a:rPr sz="1600" dirty="0"/>
              <a:t>Let's discuss how Carbon Intelligence can transform your MSME lending business and unlock new opportunities in sustainable finance.</a:t>
            </a:r>
          </a:p>
          <a:p>
            <a:endParaRPr sz="1600" dirty="0"/>
          </a:p>
          <a:p>
            <a:r>
              <a:rPr sz="1600" dirty="0"/>
              <a:t>Schedule a detailed discussion today!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575" y="1386149"/>
            <a:ext cx="6347714" cy="3880773"/>
          </a:xfrm>
        </p:spPr>
        <p:txBody>
          <a:bodyPr>
            <a:noAutofit/>
          </a:bodyPr>
          <a:lstStyle/>
          <a:p>
            <a:r>
              <a:rPr sz="1600" dirty="0" smtClean="0"/>
              <a:t>3</a:t>
            </a:r>
            <a:r>
              <a:rPr sz="1600" dirty="0"/>
              <a:t>. PILOT PROGRAM SETUP: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Select </a:t>
            </a:r>
            <a:r>
              <a:rPr sz="1600" dirty="0"/>
              <a:t>pilot MSME customers (100-200)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Train </a:t>
            </a:r>
            <a:r>
              <a:rPr sz="1600" dirty="0"/>
              <a:t>banking staff on Carbon Intelligence platform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Launch </a:t>
            </a:r>
            <a:r>
              <a:rPr sz="1600" dirty="0"/>
              <a:t>pilot program with monitoring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Collect </a:t>
            </a:r>
            <a:r>
              <a:rPr sz="1600" dirty="0"/>
              <a:t>feedback and optimize performance</a:t>
            </a:r>
          </a:p>
          <a:p>
            <a:endParaRPr sz="1600" dirty="0"/>
          </a:p>
          <a:p>
            <a:r>
              <a:rPr sz="1600" dirty="0" smtClean="0"/>
              <a:t>TIMELINE</a:t>
            </a:r>
            <a:r>
              <a:rPr sz="1600" dirty="0"/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Week </a:t>
            </a:r>
            <a:r>
              <a:rPr sz="1600" dirty="0"/>
              <a:t>1-2: Partnership agreement finalization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Week </a:t>
            </a:r>
            <a:r>
              <a:rPr sz="1600" dirty="0"/>
              <a:t>3-4: Technical integration planning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Month </a:t>
            </a:r>
            <a:r>
              <a:rPr sz="1600" dirty="0"/>
              <a:t>2-3: Platform customization and testing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Month </a:t>
            </a:r>
            <a:r>
              <a:rPr sz="1600" dirty="0"/>
              <a:t>4-6: Pilot program execution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 smtClean="0"/>
              <a:t>Month </a:t>
            </a:r>
            <a:r>
              <a:rPr sz="1600" dirty="0"/>
              <a:t>7-12: Full rollout and scaling</a:t>
            </a:r>
          </a:p>
          <a:p>
            <a:endParaRPr sz="1600" dirty="0"/>
          </a:p>
          <a:p>
            <a:r>
              <a:rPr sz="1600" dirty="0"/>
              <a:t>READY TO REVOLUTIONIZE GREEN FINANCE?</a:t>
            </a:r>
          </a:p>
          <a:p>
            <a:r>
              <a:rPr sz="1600" dirty="0" smtClean="0"/>
              <a:t>Schedule </a:t>
            </a:r>
            <a:r>
              <a:rPr sz="1600" dirty="0"/>
              <a:t>a detailed discussion today!</a:t>
            </a:r>
          </a:p>
        </p:txBody>
      </p:sp>
    </p:spTree>
    <p:extLst>
      <p:ext uri="{BB962C8B-B14F-4D97-AF65-F5344CB8AC3E}">
        <p14:creationId xmlns:p14="http://schemas.microsoft.com/office/powerpoint/2010/main" val="12840875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270000"/>
            <a:ext cx="6347714" cy="3880773"/>
          </a:xfrm>
        </p:spPr>
        <p:txBody>
          <a:bodyPr>
            <a:noAutofit/>
          </a:bodyPr>
          <a:lstStyle/>
          <a:p>
            <a:r>
              <a:rPr sz="1600" dirty="0" smtClean="0"/>
              <a:t>Together</a:t>
            </a:r>
            <a:r>
              <a:rPr sz="1600" dirty="0"/>
              <a:t>, we can: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/>
              <a:t>• Transform MSME lending through Carbon Intelligence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/>
              <a:t>• Unlock new revenue opportunities in green finance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/>
              <a:t>• Reduce risk and improve portfolio quality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/>
              <a:t>• Support India's net-zero 2070 commitment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600" dirty="0"/>
              <a:t>• Build a sustainable and profitable future</a:t>
            </a:r>
          </a:p>
          <a:p>
            <a:endParaRPr sz="1600" dirty="0"/>
          </a:p>
          <a:p>
            <a:r>
              <a:rPr sz="1600" dirty="0"/>
              <a:t>Key Benefits Summary:</a:t>
            </a:r>
          </a:p>
          <a:p>
            <a:r>
              <a:rPr sz="1600" dirty="0"/>
              <a:t>✅ 25-40% increase in MSME loan portfolio</a:t>
            </a:r>
          </a:p>
          <a:p>
            <a:r>
              <a:rPr sz="1600" dirty="0"/>
              <a:t>✅ 30-50% reduction in credit risk</a:t>
            </a:r>
          </a:p>
          <a:p>
            <a:r>
              <a:rPr sz="1600" dirty="0"/>
              <a:t>✅ New revenue streams through green finance</a:t>
            </a:r>
          </a:p>
          <a:p>
            <a:r>
              <a:rPr sz="1600" dirty="0"/>
              <a:t>✅ Enhanced brand reputation and ESG compliance</a:t>
            </a:r>
          </a:p>
          <a:p>
            <a:r>
              <a:rPr sz="1600" dirty="0"/>
              <a:t>✅ First-mover advantage in AI-powered green lending</a:t>
            </a:r>
          </a:p>
          <a:p>
            <a:pPr marL="0" indent="0">
              <a:buNone/>
            </a:pPr>
            <a:endParaRPr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 smtClean="0"/>
              <a:t>Contact Us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1600" dirty="0" smtClean="0"/>
              <a:t>📧 contact@sustainow.in</a:t>
            </a:r>
            <a:endParaRPr lang="en-US" sz="1600" dirty="0"/>
          </a:p>
          <a:p>
            <a:r>
              <a:rPr lang="en-US" sz="1600" dirty="0"/>
              <a:t>📞 +</a:t>
            </a:r>
            <a:r>
              <a:rPr lang="en-US" sz="1600" dirty="0" smtClean="0"/>
              <a:t>91-7795075425</a:t>
            </a:r>
          </a:p>
          <a:p>
            <a:r>
              <a:rPr lang="en-US" sz="1600" dirty="0" smtClean="0"/>
              <a:t>🌐 www.sustainow.in.com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Let's build a sustainable future together! </a:t>
            </a:r>
            <a:r>
              <a:rPr lang="en-US" sz="1600" dirty="0" smtClean="0"/>
              <a:t>🌱</a:t>
            </a:r>
          </a:p>
          <a:p>
            <a:r>
              <a:rPr lang="en-US" sz="1600" dirty="0"/>
              <a:t>Carbon Intelligence - Empowering Green Finance for MSMEs</a:t>
            </a:r>
          </a:p>
          <a:p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067932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rPr dirty="0"/>
              <a:t>Carbon Intelligence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dirty="0" smtClean="0"/>
              <a:t>for </a:t>
            </a:r>
            <a:r>
              <a:rPr dirty="0"/>
              <a:t>Green Finance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rPr sz="1400" dirty="0"/>
              <a:t>Revolutionary Risk Assessment &amp; Green Loan Solutions for MSMEs</a:t>
            </a:r>
          </a:p>
          <a:p>
            <a:r>
              <a:rPr sz="1600" dirty="0" smtClean="0"/>
              <a:t>Powered </a:t>
            </a:r>
            <a:r>
              <a:rPr sz="1600" dirty="0"/>
              <a:t>by AI-Driven Carbon Intelligence Scoring</a:t>
            </a:r>
          </a:p>
          <a:p>
            <a:pPr algn="ctr"/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581741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141</TotalTime>
  <Words>2032</Words>
  <Application>Microsoft Office PowerPoint</Application>
  <PresentationFormat>On-screen Show (4:3)</PresentationFormat>
  <Paragraphs>340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Trebuchet MS</vt:lpstr>
      <vt:lpstr>Wingdings</vt:lpstr>
      <vt:lpstr>Wingdings 3</vt:lpstr>
      <vt:lpstr>Facet</vt:lpstr>
      <vt:lpstr>Carbon Intelligence  for Green Finance</vt:lpstr>
      <vt:lpstr>Executive Summary</vt:lpstr>
      <vt:lpstr>Executive Summary</vt:lpstr>
      <vt:lpstr>Executive Summary</vt:lpstr>
      <vt:lpstr>Carbon Intelligence Scoring System</vt:lpstr>
      <vt:lpstr>Carbon Intelligence Scoring System</vt:lpstr>
      <vt:lpstr>Carbon Intelligence Scoring System</vt:lpstr>
      <vt:lpstr>Green Loan Products &amp; Benefits</vt:lpstr>
      <vt:lpstr>Green Loan Products &amp; Benefits</vt:lpstr>
      <vt:lpstr>Green Loan Products &amp; Benefits</vt:lpstr>
      <vt:lpstr>Advanced Risk Assessment Framework</vt:lpstr>
      <vt:lpstr>Advanced Risk Assessment Framework</vt:lpstr>
      <vt:lpstr>Advanced Risk Assessment Framework</vt:lpstr>
      <vt:lpstr>Carbon Trading &amp; Offset Mechanisms</vt:lpstr>
      <vt:lpstr>Carbon Trading &amp; Offset Mechanisms</vt:lpstr>
      <vt:lpstr>Carbon Trading &amp; Offset Mechanisms</vt:lpstr>
      <vt:lpstr>ROI &amp; Financial Projections</vt:lpstr>
      <vt:lpstr>ROI &amp; Financial Projections</vt:lpstr>
      <vt:lpstr>ROI &amp; Financial Projections</vt:lpstr>
      <vt:lpstr>Implementation Roadmap</vt:lpstr>
      <vt:lpstr>Implementation Roadmap</vt:lpstr>
      <vt:lpstr>Implementation Roadmap</vt:lpstr>
      <vt:lpstr>Competitive Advantage</vt:lpstr>
      <vt:lpstr>Competitive Advantage</vt:lpstr>
      <vt:lpstr>Competitive Advantage</vt:lpstr>
      <vt:lpstr>Success Stories &amp; Case Studies</vt:lpstr>
      <vt:lpstr>Success Stories &amp; Case Studies</vt:lpstr>
      <vt:lpstr>Success Stories &amp; Case Studies</vt:lpstr>
      <vt:lpstr>Success Stories &amp; Case Studies</vt:lpstr>
      <vt:lpstr>Next Steps</vt:lpstr>
      <vt:lpstr>Next Steps &amp; Call to Action</vt:lpstr>
      <vt:lpstr>Next Steps &amp; Call to Action</vt:lpstr>
      <vt:lpstr>Thank You</vt:lpstr>
      <vt:lpstr>Contact Us</vt:lpstr>
      <vt:lpstr>Carbon Intelligence  for Green Finance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 Intelligence for Green Finance</dc:title>
  <dc:subject/>
  <dc:creator/>
  <cp:keywords/>
  <dc:description>generated using python-pptx</dc:description>
  <cp:lastModifiedBy>DELL</cp:lastModifiedBy>
  <cp:revision>21</cp:revision>
  <dcterms:created xsi:type="dcterms:W3CDTF">2013-01-27T09:14:16Z</dcterms:created>
  <dcterms:modified xsi:type="dcterms:W3CDTF">2025-10-24T14:34:37Z</dcterms:modified>
  <cp:category/>
</cp:coreProperties>
</file>