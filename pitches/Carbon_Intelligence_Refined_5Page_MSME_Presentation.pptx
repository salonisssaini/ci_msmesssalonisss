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7315200" y="-914400"/>
            <a:ext cx="5486400" cy="5486400"/>
          </a:xfrm>
          <a:prstGeom prst="ellipse">
            <a:avLst/>
          </a:prstGeom>
          <a:solidFill>
            <a:srgbClr val="F0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828800" y="3657600"/>
            <a:ext cx="3657600" cy="3657600"/>
          </a:xfrm>
          <a:prstGeom prst="ellipse">
            <a:avLst/>
          </a:prstGeom>
          <a:solidFill>
            <a:srgbClr val="F0FF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10360152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2E7D32"/>
                </a:solidFill>
              </a:defRPr>
            </a:pPr>
            <a:r>
              <a:t>🌱 Carbon Intelligence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743200"/>
            <a:ext cx="103601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424242"/>
                </a:solidFill>
              </a:defRPr>
            </a:pPr>
            <a:r>
              <a:t>AI-Powered Carbon Intelligence Platform for MSMEs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840480"/>
            <a:ext cx="10360152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1976D2"/>
                </a:solidFill>
              </a:defRPr>
            </a:pPr>
            <a:r>
              <a:t>💰 Save 20-40% on Costs  •  🏦 Access Green Finance  •  🚀 Build Competitive Advantage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303520"/>
            <a:ext cx="103601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424242"/>
                </a:solidFill>
              </a:defRPr>
            </a:pPr>
            <a:r>
              <a:t>📧 contact@carbonintelligence.com  •  📱 +91-98765-43210  •  🌐 www.carbonintelligence.com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2E7D32"/>
                </a:solidFill>
              </a:defRPr>
            </a:pPr>
            <a:r>
              <a:t>The MSME Sustainability Challenge &amp; Our Solution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371600"/>
            <a:ext cx="5486400" cy="4572000"/>
          </a:xfrm>
          <a:prstGeom prst="roundRect">
            <a:avLst/>
          </a:prstGeom>
          <a:solidFill>
            <a:srgbClr val="FFF5F5"/>
          </a:solidFill>
          <a:ln w="25400">
            <a:solidFill>
              <a:srgbClr val="DC3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51206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DC3545"/>
                </a:solidFill>
              </a:defRPr>
            </a:pPr>
            <a:r>
              <a:t>🚨 Critical Problems MSMEs Face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103120"/>
            <a:ext cx="5120640" cy="3200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424242"/>
                </a:solidFill>
              </a:defRPr>
            </a:pPr>
            <a:r>
              <a:t>• High Operational Costs: 60-70% of revenue</a:t>
            </a:r>
          </a:p>
          <a:p>
            <a:r>
              <a:t>• Limited Green Finance Access</a:t>
            </a:r>
          </a:p>
          <a:p>
            <a:r>
              <a:t>• Complex Compliance Requirements</a:t>
            </a:r>
          </a:p>
          <a:p>
            <a:r>
              <a:t>• Lack of Carbon Data &amp; Tracking</a:t>
            </a:r>
          </a:p>
          <a:p>
            <a:r>
              <a:t>• Competitive Pressure</a:t>
            </a:r>
          </a:p>
          <a:p>
            <a:r>
              <a:t>• Regulatory Risk &amp; Penalties</a:t>
            </a:r>
          </a:p>
          <a:p/>
          <a:p>
            <a:r>
              <a:t>💰 Financial Impact:</a:t>
            </a:r>
          </a:p>
          <a:p>
            <a:r>
              <a:t>• ₹2-5 lakhs annual losses</a:t>
            </a:r>
          </a:p>
          <a:p>
            <a:r>
              <a:t>• 40% higher operational costs</a:t>
            </a:r>
          </a:p>
          <a:p>
            <a:r>
              <a:t>• Missed green finance opportunities</a:t>
            </a:r>
          </a:p>
          <a:p>
            <a:r>
              <a:t>• ₹50,000 crores market opportunity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0" y="1371600"/>
            <a:ext cx="5486400" cy="4572000"/>
          </a:xfrm>
          <a:prstGeom prst="roundRect">
            <a:avLst/>
          </a:prstGeom>
          <a:solidFill>
            <a:srgbClr val="F5FFF5"/>
          </a:solidFill>
          <a:ln w="25400"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126480" y="1554480"/>
            <a:ext cx="51206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4CAF50"/>
                </a:solidFill>
              </a:defRPr>
            </a:pPr>
            <a:r>
              <a:t>✅ Carbon Intelligence Solution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6480" y="2103120"/>
            <a:ext cx="5120640" cy="3200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424242"/>
                </a:solidFill>
              </a:defRPr>
            </a:pPr>
            <a:r>
              <a:t>🤖 AI-Powered Carbon Intelligence</a:t>
            </a:r>
          </a:p>
          <a:p>
            <a:r>
              <a:t>• Real-time carbon tracking</a:t>
            </a:r>
          </a:p>
          <a:p>
            <a:r>
              <a:t>• Smart cost optimization</a:t>
            </a:r>
          </a:p>
          <a:p>
            <a:r>
              <a:t>• Green finance access</a:t>
            </a:r>
          </a:p>
          <a:p>
            <a:r>
              <a:t>• Automated compliance</a:t>
            </a:r>
          </a:p>
          <a:p>
            <a:r>
              <a:t>• Carbon trading platform</a:t>
            </a:r>
          </a:p>
          <a:p/>
          <a:p>
            <a:r>
              <a:t>📱 Multi-Platform Access:</a:t>
            </a:r>
          </a:p>
          <a:p>
            <a:r>
              <a:t>• Web Dashboard</a:t>
            </a:r>
          </a:p>
          <a:p>
            <a:r>
              <a:t>• Mobile App</a:t>
            </a:r>
          </a:p>
          <a:p>
            <a:r>
              <a:t>• API Integration</a:t>
            </a:r>
          </a:p>
          <a:p/>
          <a:p>
            <a:r>
              <a:t>🎯 Key Benefits:</a:t>
            </a:r>
          </a:p>
          <a:p>
            <a:r>
              <a:t>• 20-40% cost reduction</a:t>
            </a:r>
          </a:p>
          <a:p>
            <a:r>
              <a:t>• 1-3% lower interest rates</a:t>
            </a:r>
          </a:p>
          <a:p>
            <a:r>
              <a:t>• Additional revenue streams</a:t>
            </a:r>
          </a:p>
          <a:p>
            <a:r>
              <a:t>• Future-proof operations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2E7D32"/>
                </a:solidFill>
              </a:defRPr>
            </a:pPr>
            <a:r>
              <a:t>📱 Application Interface Mockups &amp; Key Features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371600"/>
            <a:ext cx="5029200" cy="3657600"/>
          </a:xfrm>
          <a:prstGeom prst="roundRect">
            <a:avLst/>
          </a:prstGeom>
          <a:solidFill>
            <a:srgbClr val="F5F5F5"/>
          </a:solidFill>
          <a:ln w="254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46634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2E7D32"/>
                </a:solidFill>
              </a:defRPr>
            </a:pPr>
            <a:r>
              <a:t>🌱 Carbon Intelligence Dashboard</a:t>
            </a:r>
          </a:p>
        </p:txBody>
      </p:sp>
      <p:sp>
        <p:nvSpPr>
          <p:cNvPr id="5" name="Oval 4"/>
          <p:cNvSpPr/>
          <p:nvPr/>
        </p:nvSpPr>
        <p:spPr>
          <a:xfrm>
            <a:off x="731520" y="2286000"/>
            <a:ext cx="1371600" cy="1371600"/>
          </a:xfrm>
          <a:prstGeom prst="ellipse">
            <a:avLst/>
          </a:prstGeom>
          <a:solidFill>
            <a:srgbClr val="4CAF5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2377440"/>
            <a:ext cx="128016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85</a:t>
            </a:r>
          </a:p>
          <a:p>
            <a:r>
              <a:t>Gold</a:t>
            </a:r>
          </a:p>
          <a:p>
            <a:r>
              <a:t>Tier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286000" y="2286000"/>
            <a:ext cx="1188720" cy="548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377440" y="2377440"/>
            <a:ext cx="1005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>
                <a:solidFill>
                  <a:srgbClr val="4CAF50"/>
                </a:solidFill>
              </a:defRPr>
            </a:pPr>
            <a:r>
              <a:t>245.6 kg</a:t>
            </a:r>
          </a:p>
          <a:p>
            <a:r>
              <a:t>CO₂ Saved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0" y="2286000"/>
            <a:ext cx="1188720" cy="548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749040" y="2377440"/>
            <a:ext cx="1005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>
                <a:solidFill>
                  <a:srgbClr val="1976D2"/>
                </a:solidFill>
              </a:defRPr>
            </a:pPr>
            <a:r>
              <a:t>₹15,240</a:t>
            </a:r>
          </a:p>
          <a:p>
            <a:r>
              <a:t>Cost Savings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286000" y="3017520"/>
            <a:ext cx="1188720" cy="548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377440" y="3108960"/>
            <a:ext cx="1005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>
                <a:solidFill>
                  <a:srgbClr val="FF8C00"/>
                </a:solidFill>
              </a:defRPr>
            </a:pPr>
            <a:r>
              <a:t>12.3%</a:t>
            </a:r>
          </a:p>
          <a:p>
            <a:r>
              <a:t>Reduction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657600" y="3017520"/>
            <a:ext cx="1188720" cy="548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749040" y="3108960"/>
            <a:ext cx="1005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>
                <a:solidFill>
                  <a:srgbClr val="2E7D32"/>
                </a:solidFill>
              </a:defRPr>
            </a:pPr>
            <a:r>
              <a:t>1,250</a:t>
            </a:r>
          </a:p>
          <a:p>
            <a:r>
              <a:t>Credits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43600" y="1371600"/>
            <a:ext cx="2286000" cy="3657600"/>
          </a:xfrm>
          <a:prstGeom prst="roundRect">
            <a:avLst/>
          </a:prstGeom>
          <a:solidFill>
            <a:srgbClr val="000000"/>
          </a:solidFill>
          <a:ln w="38100">
            <a:solidFill>
              <a:srgbClr val="4242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035040" y="1554480"/>
            <a:ext cx="2103120" cy="3291840"/>
          </a:xfrm>
          <a:prstGeom prst="roundRect">
            <a:avLst/>
          </a:prstGeom>
          <a:solidFill>
            <a:srgbClr val="F5F5F5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26480" y="1645920"/>
            <a:ext cx="1920240" cy="3200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424242"/>
                </a:solidFill>
              </a:defRPr>
            </a:pPr>
            <a:r>
              <a:t>🌱 Carbon Intelligence</a:t>
            </a:r>
          </a:p>
          <a:p/>
          <a:p>
            <a:r>
              <a:t>📊 Dashboard</a:t>
            </a:r>
          </a:p>
          <a:p>
            <a:r>
              <a:t>• Score: 85/100</a:t>
            </a:r>
          </a:p>
          <a:p>
            <a:r>
              <a:t>• CO₂: 245 kg</a:t>
            </a:r>
          </a:p>
          <a:p>
            <a:r>
              <a:t>• Savings: ₹15,240</a:t>
            </a:r>
          </a:p>
          <a:p/>
          <a:p>
            <a:r>
              <a:t>🔍 Quick Actions</a:t>
            </a:r>
          </a:p>
          <a:p>
            <a:r>
              <a:t>• Analytics</a:t>
            </a:r>
          </a:p>
          <a:p>
            <a:r>
              <a:t>• Trading</a:t>
            </a:r>
          </a:p>
          <a:p>
            <a:r>
              <a:t>• Finance</a:t>
            </a:r>
          </a:p>
          <a:p>
            <a:r>
              <a:t>• Reports</a:t>
            </a:r>
          </a:p>
          <a:p/>
          <a:p>
            <a:r>
              <a:t>📱 24/7 Access</a:t>
            </a:r>
          </a:p>
          <a:p>
            <a:r>
              <a:t>• Push Notifications</a:t>
            </a:r>
          </a:p>
          <a:p>
            <a:r>
              <a:t>• Offline Mode</a:t>
            </a:r>
          </a:p>
          <a:p>
            <a:r>
              <a:t>• GPS Tracking</a:t>
            </a:r>
          </a:p>
          <a:p>
            <a:r>
              <a:t>• Voice Commands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5303520"/>
            <a:ext cx="11274552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1976D2"/>
                </a:solidFill>
              </a:defRPr>
            </a:pPr>
            <a:r>
              <a:t>🚀 Key Features: Real-time Carbon Tracking • AI-Powered Analytics • Green Finance Access • Carbon Trading • Mobile App • Automated Compliance • Multi-Platform Sync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2E7D32"/>
                </a:solidFill>
              </a:defRPr>
            </a:pPr>
            <a:r>
              <a:t>💰 Financial Impact &amp; ROI Analysis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371600"/>
            <a:ext cx="5486400" cy="3657600"/>
          </a:xfrm>
          <a:prstGeom prst="roundRect">
            <a:avLst/>
          </a:prstGeom>
          <a:solidFill>
            <a:srgbClr val="F8F9FA"/>
          </a:solidFill>
          <a:ln w="25400"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51206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976D2"/>
                </a:solidFill>
              </a:defRPr>
            </a:pPr>
            <a:r>
              <a:t>📊 ROI Progression (3-Year Analysis)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3078480"/>
            <a:ext cx="1097280" cy="1219200"/>
          </a:xfrm>
          <a:prstGeom prst="round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4480560"/>
            <a:ext cx="1097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424242"/>
                </a:solidFill>
              </a:defRPr>
            </a:pPr>
            <a:r>
              <a:t>Year 1</a:t>
            </a:r>
          </a:p>
          <a:p>
            <a:r>
              <a:t>400% ROI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560320" y="2773680"/>
            <a:ext cx="1097280" cy="1524000"/>
          </a:xfrm>
          <a:prstGeom prst="round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560320" y="4480560"/>
            <a:ext cx="1097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424242"/>
                </a:solidFill>
              </a:defRPr>
            </a:pPr>
            <a:r>
              <a:t>Year 2</a:t>
            </a:r>
          </a:p>
          <a:p>
            <a:r>
              <a:t>500% ROI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06240" y="2468880"/>
            <a:ext cx="1097280" cy="1828800"/>
          </a:xfrm>
          <a:prstGeom prst="round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06240" y="4480560"/>
            <a:ext cx="1097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424242"/>
                </a:solidFill>
              </a:defRPr>
            </a:pPr>
            <a:r>
              <a:t>Year 3</a:t>
            </a:r>
          </a:p>
          <a:p>
            <a:r>
              <a:t>600% ROI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1371600"/>
            <a:ext cx="5029200" cy="3657600"/>
          </a:xfrm>
          <a:prstGeom prst="roundRect">
            <a:avLst/>
          </a:prstGeom>
          <a:solidFill>
            <a:srgbClr val="F8F9FA"/>
          </a:solidFill>
          <a:ln w="25400"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0" y="1554480"/>
            <a:ext cx="46634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4CAF50"/>
                </a:solidFill>
              </a:defRPr>
            </a:pPr>
            <a:r>
              <a:t>💵 Annual Cost Savings Breakdown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0" y="2194560"/>
            <a:ext cx="4663440" cy="457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75120" y="2286000"/>
            <a:ext cx="44805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424242"/>
                </a:solidFill>
              </a:defRPr>
            </a:pPr>
            <a:r>
              <a:t>⚡ Energy 25-40% reduction - ₹75K-₹3L annually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83680" y="2743200"/>
            <a:ext cx="4663440" cy="457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75120" y="2834640"/>
            <a:ext cx="44805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424242"/>
                </a:solidFill>
              </a:defRPr>
            </a:pPr>
            <a:r>
              <a:t>💧 Water 20-30% reduction - ₹40K-₹1.5L annually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0" y="3291840"/>
            <a:ext cx="4663440" cy="457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75120" y="3383280"/>
            <a:ext cx="44805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424242"/>
                </a:solidFill>
              </a:defRPr>
            </a:pPr>
            <a:r>
              <a:t>🗑️ Waste 35-50% reduction - ₹25K-₹1L annually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583680" y="3840480"/>
            <a:ext cx="4663440" cy="457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75120" y="3931920"/>
            <a:ext cx="44805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424242"/>
                </a:solidFill>
              </a:defRPr>
            </a:pPr>
            <a:r>
              <a:t>🚚 Transport 15-25% reduction - ₹30K-₹1.5L annually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583680" y="4389120"/>
            <a:ext cx="4663440" cy="457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9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75120" y="4480560"/>
            <a:ext cx="44805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424242"/>
                </a:solidFill>
              </a:defRPr>
            </a:pPr>
            <a:r>
              <a:t>📦 Materials 20-30% reduction - ₹50K-₹2L annually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583680" y="4572000"/>
            <a:ext cx="4663440" cy="365760"/>
          </a:xfrm>
          <a:prstGeom prst="roundRect">
            <a:avLst/>
          </a:prstGeom>
          <a:solidFill>
            <a:srgbClr val="4CAF5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675120" y="4663440"/>
            <a:ext cx="44805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💰 TOTAL ANNUAL SAVINGS: ₹2.2L - ₹9L per MSME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2E7D32"/>
                </a:solidFill>
              </a:defRPr>
            </a:pPr>
            <a:r>
              <a:t>🏆 Success Stories &amp; Ready to Transform?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371600"/>
            <a:ext cx="5486400" cy="3657600"/>
          </a:xfrm>
          <a:prstGeom prst="roundRect">
            <a:avLst/>
          </a:prstGeom>
          <a:solidFill>
            <a:srgbClr val="F8F9FA"/>
          </a:solidFill>
          <a:ln w="25400"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51206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976D2"/>
                </a:solidFill>
              </a:defRPr>
            </a:pPr>
            <a:r>
              <a:t>📊 Real Customer Results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194560"/>
            <a:ext cx="5120640" cy="731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49377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424242"/>
                </a:solidFill>
              </a:defRPr>
            </a:pPr>
            <a:r>
              <a:t>🏢 EcoTech Manufacturing (75 employees)</a:t>
            </a:r>
          </a:p>
          <a:p>
            <a:r>
              <a:t>📈 40% cost reduction • 💰 ₹6L annual savings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3108960"/>
            <a:ext cx="5120640" cy="731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3200400"/>
            <a:ext cx="49377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424242"/>
                </a:solidFill>
              </a:defRPr>
            </a:pPr>
            <a:r>
              <a:t>🏢 GreenTextile Ltd (100 employees)</a:t>
            </a:r>
          </a:p>
          <a:p>
            <a:r>
              <a:t>📈 35% cost reduction • 💰 ₹4.2L annual savings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4023360"/>
            <a:ext cx="5120640" cy="731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4114800"/>
            <a:ext cx="49377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424242"/>
                </a:solidFill>
              </a:defRPr>
            </a:pPr>
            <a:r>
              <a:t>🏢 FreshFoods Pvt Ltd (50 employees)</a:t>
            </a:r>
          </a:p>
          <a:p>
            <a:r>
              <a:t>📈 30% cost reduction • 💰 ₹2.5L annual savings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1371600"/>
            <a:ext cx="5029200" cy="3657600"/>
          </a:xfrm>
          <a:prstGeom prst="roundRect">
            <a:avLst/>
          </a:prstGeom>
          <a:solidFill>
            <a:srgbClr val="F0FFF0"/>
          </a:solidFill>
          <a:ln w="25400"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0" y="1554480"/>
            <a:ext cx="46634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4CAF50"/>
                </a:solidFill>
              </a:defRPr>
            </a:pPr>
            <a:r>
              <a:t>🚀 Ready to Transform?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2194560"/>
            <a:ext cx="466344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424242"/>
                </a:solidFill>
              </a:defRPr>
            </a:pPr>
            <a:r>
              <a:t>✅ Immediate Benefits:</a:t>
            </a:r>
          </a:p>
          <a:p>
            <a:r>
              <a:t>• Start saving from day 1</a:t>
            </a:r>
          </a:p>
          <a:p>
            <a:r>
              <a:t>• Access green finance</a:t>
            </a:r>
          </a:p>
          <a:p>
            <a:r>
              <a:t>• Build competitive advantage</a:t>
            </a:r>
          </a:p>
          <a:p>
            <a:r>
              <a:t>• Future-proof operations</a:t>
            </a:r>
          </a:p>
          <a:p/>
          <a:p>
            <a:r>
              <a:t>🎁 Special Launch Offer:</a:t>
            </a:r>
          </a:p>
          <a:p>
            <a:r>
              <a:t>• 30-day free trial</a:t>
            </a:r>
          </a:p>
          <a:p>
            <a:r>
              <a:t>• 50% off first 3 months</a:t>
            </a:r>
          </a:p>
          <a:p>
            <a:r>
              <a:t>• Free setup &amp; training</a:t>
            </a:r>
          </a:p>
          <a:p>
            <a:r>
              <a:t>• Money-back guarantee</a:t>
            </a:r>
          </a:p>
          <a:p/>
          <a:p>
            <a:r>
              <a:t>📞 Get Started Today:</a:t>
            </a:r>
          </a:p>
          <a:p>
            <a:r>
              <a:t>• Visit: www.carbonintelligence.com</a:t>
            </a:r>
          </a:p>
          <a:p>
            <a:r>
              <a:t>• Call: +91-98765-43210</a:t>
            </a:r>
          </a:p>
          <a:p>
            <a:r>
              <a:t>• Email: contact@carbonintelligence.com</a:t>
            </a:r>
          </a:p>
          <a:p/>
          <a:p>
            <a:r>
              <a:t>💰 ROI Guarantee:</a:t>
            </a:r>
          </a:p>
          <a:p>
            <a:r>
              <a:t>5x subscription cost savings</a:t>
            </a:r>
          </a:p>
          <a:p>
            <a:r>
              <a:t>or your money back!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5303520"/>
            <a:ext cx="11274552" cy="1097280"/>
          </a:xfrm>
          <a:prstGeom prst="roundRect">
            <a:avLst/>
          </a:prstGeom>
          <a:solidFill>
            <a:srgbClr val="2E7D3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5486400"/>
            <a:ext cx="1090879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🌱 Transform Your MSME Today! Join 500+ MSMEs already saving money and reducing their carbon footprint with Carbon Intelligence.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